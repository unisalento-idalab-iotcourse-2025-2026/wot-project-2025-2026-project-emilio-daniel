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66" r:id="rId1"/>
  </p:sldMasterIdLst>
  <p:notesMasterIdLst>
    <p:notesMasterId r:id="rId22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83" r:id="rId11"/>
    <p:sldId id="284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/>
    <p:restoredTop sz="94694"/>
  </p:normalViewPr>
  <p:slideViewPr>
    <p:cSldViewPr snapToGrid="0" snapToObjects="1">
      <p:cViewPr varScale="1">
        <p:scale>
          <a:sx n="64" d="100"/>
          <a:sy n="64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o Pascadopoli" userId="649cad633bf5c22c" providerId="LiveId" clId="{37E6CCB7-E231-4B61-947F-CB2B29EAD1D0}"/>
    <pc:docChg chg="undo custSel addSld modSld">
      <pc:chgData name="Emilio Pascadopoli" userId="649cad633bf5c22c" providerId="LiveId" clId="{37E6CCB7-E231-4B61-947F-CB2B29EAD1D0}" dt="2026-10-07T07:43:16.944" v="558" actId="20577"/>
      <pc:docMkLst>
        <pc:docMk/>
      </pc:docMkLst>
      <pc:sldChg chg="modSp mod">
        <pc:chgData name="Emilio Pascadopoli" userId="649cad633bf5c22c" providerId="LiveId" clId="{37E6CCB7-E231-4B61-947F-CB2B29EAD1D0}" dt="2026-10-07T07:24:09.135" v="112" actId="1076"/>
        <pc:sldMkLst>
          <pc:docMk/>
          <pc:sldMk cId="0" sldId="265"/>
        </pc:sldMkLst>
        <pc:spChg chg="mod">
          <ac:chgData name="Emilio Pascadopoli" userId="649cad633bf5c22c" providerId="LiveId" clId="{37E6CCB7-E231-4B61-947F-CB2B29EAD1D0}" dt="2026-10-07T07:24:09.135" v="112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3:42.216" v="86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3:47.003" v="104" actId="1035"/>
          <ac:spMkLst>
            <pc:docMk/>
            <pc:sldMk cId="0" sldId="265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3:47.003" v="104" actId="1035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24:54.961" v="190" actId="1076"/>
        <pc:sldMkLst>
          <pc:docMk/>
          <pc:sldMk cId="0" sldId="266"/>
        </pc:sldMkLst>
        <pc:spChg chg="mod">
          <ac:chgData name="Emilio Pascadopoli" userId="649cad633bf5c22c" providerId="LiveId" clId="{37E6CCB7-E231-4B61-947F-CB2B29EAD1D0}" dt="2026-10-07T07:24:42.055" v="187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54.961" v="190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4:35.323" v="179" actId="1035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26:00.646" v="305" actId="20577"/>
        <pc:sldMkLst>
          <pc:docMk/>
          <pc:sldMk cId="0" sldId="267"/>
        </pc:sldMkLst>
        <pc:spChg chg="mod">
          <ac:chgData name="Emilio Pascadopoli" userId="649cad633bf5c22c" providerId="LiveId" clId="{37E6CCB7-E231-4B61-947F-CB2B29EAD1D0}" dt="2026-10-07T07:25:32.043" v="254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39.776" v="258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5:18.983" v="252" actId="1035"/>
          <ac:spMkLst>
            <pc:docMk/>
            <pc:sldMk cId="0" sldId="267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00.646" v="305" actId="20577"/>
          <ac:spMkLst>
            <pc:docMk/>
            <pc:sldMk cId="0" sldId="267"/>
            <ac:spMk id="16" creationId="{00000000-0000-0000-0000-000000000000}"/>
          </ac:spMkLst>
        </pc:spChg>
        <pc:cxnChg chg="mod">
          <ac:chgData name="Emilio Pascadopoli" userId="649cad633bf5c22c" providerId="LiveId" clId="{37E6CCB7-E231-4B61-947F-CB2B29EAD1D0}" dt="2026-10-07T07:25:25.148" v="253" actId="1076"/>
          <ac:cxnSpMkLst>
            <pc:docMk/>
            <pc:sldMk cId="0" sldId="267"/>
            <ac:cxnSpMk id="5" creationId="{00000000-0000-0000-0000-000000000000}"/>
          </ac:cxnSpMkLst>
        </pc:cxnChg>
      </pc:sldChg>
      <pc:sldChg chg="modSp mod">
        <pc:chgData name="Emilio Pascadopoli" userId="649cad633bf5c22c" providerId="LiveId" clId="{37E6CCB7-E231-4B61-947F-CB2B29EAD1D0}" dt="2026-10-07T07:26:13.923" v="331" actId="1035"/>
        <pc:sldMkLst>
          <pc:docMk/>
          <pc:sldMk cId="0" sldId="268"/>
        </pc:sldMkLst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1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2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13.923" v="331" actId="1035"/>
          <ac:spMkLst>
            <pc:docMk/>
            <pc:sldMk cId="0" sldId="268"/>
            <ac:spMk id="23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26:46.040" v="357" actId="1035"/>
        <pc:sldMkLst>
          <pc:docMk/>
          <pc:sldMk cId="0" sldId="269"/>
        </pc:sldMkLst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6:46.040" v="357" actId="1035"/>
          <ac:spMkLst>
            <pc:docMk/>
            <pc:sldMk cId="0" sldId="269"/>
            <ac:spMk id="14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27:16.675" v="377" actId="1076"/>
        <pc:sldMkLst>
          <pc:docMk/>
          <pc:sldMk cId="0" sldId="270"/>
        </pc:sldMkLst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00.102" v="362" actId="103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00.102" v="362" actId="1035"/>
          <ac:spMkLst>
            <pc:docMk/>
            <pc:sldMk cId="0" sldId="270"/>
            <ac:spMk id="1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00.102" v="362" actId="1035"/>
          <ac:spMkLst>
            <pc:docMk/>
            <pc:sldMk cId="0" sldId="270"/>
            <ac:spMk id="1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16.675" v="377" actId="1076"/>
          <ac:spMkLst>
            <pc:docMk/>
            <pc:sldMk cId="0" sldId="270"/>
            <ac:spMk id="20" creationId="{00000000-0000-0000-0000-000000000000}"/>
          </ac:spMkLst>
        </pc:spChg>
      </pc:sldChg>
      <pc:sldChg chg="addSp delSp modSp mod">
        <pc:chgData name="Emilio Pascadopoli" userId="649cad633bf5c22c" providerId="LiveId" clId="{37E6CCB7-E231-4B61-947F-CB2B29EAD1D0}" dt="2026-10-07T07:27:52.326" v="400" actId="1076"/>
        <pc:sldMkLst>
          <pc:docMk/>
          <pc:sldMk cId="0" sldId="271"/>
        </pc:sldMkLst>
        <pc:spChg chg="mod">
          <ac:chgData name="Emilio Pascadopoli" userId="649cad633bf5c22c" providerId="LiveId" clId="{37E6CCB7-E231-4B61-947F-CB2B29EAD1D0}" dt="2026-10-07T07:27:44.372" v="399" actId="141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44.372" v="399" actId="14100"/>
          <ac:spMkLst>
            <pc:docMk/>
            <pc:sldMk cId="0" sldId="271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44.372" v="399" actId="14100"/>
          <ac:spMkLst>
            <pc:docMk/>
            <pc:sldMk cId="0" sldId="271"/>
            <ac:spMk id="1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44.372" v="399" actId="14100"/>
          <ac:spMkLst>
            <pc:docMk/>
            <pc:sldMk cId="0" sldId="271"/>
            <ac:spMk id="1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52.326" v="400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7:44.372" v="399" actId="14100"/>
          <ac:spMkLst>
            <pc:docMk/>
            <pc:sldMk cId="0" sldId="271"/>
            <ac:spMk id="23" creationId="{00000000-0000-0000-0000-000000000000}"/>
          </ac:spMkLst>
        </pc:spChg>
        <pc:spChg chg="add del mod">
          <ac:chgData name="Emilio Pascadopoli" userId="649cad633bf5c22c" providerId="LiveId" clId="{37E6CCB7-E231-4B61-947F-CB2B29EAD1D0}" dt="2026-10-07T07:27:32.214" v="380"/>
          <ac:spMkLst>
            <pc:docMk/>
            <pc:sldMk cId="0" sldId="271"/>
            <ac:spMk id="24" creationId="{CE6D9F8F-42E4-6358-B5F3-126838E99F86}"/>
          </ac:spMkLst>
        </pc:spChg>
      </pc:sldChg>
      <pc:sldChg chg="modSp mod">
        <pc:chgData name="Emilio Pascadopoli" userId="649cad633bf5c22c" providerId="LiveId" clId="{37E6CCB7-E231-4B61-947F-CB2B29EAD1D0}" dt="2026-10-07T07:28:36.329" v="416" actId="20577"/>
        <pc:sldMkLst>
          <pc:docMk/>
          <pc:sldMk cId="0" sldId="272"/>
        </pc:sldMkLst>
        <pc:spChg chg="mod">
          <ac:chgData name="Emilio Pascadopoli" userId="649cad633bf5c22c" providerId="LiveId" clId="{37E6CCB7-E231-4B61-947F-CB2B29EAD1D0}" dt="2026-10-07T07:28:05.935" v="401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11.913" v="405" actId="1035"/>
          <ac:spMkLst>
            <pc:docMk/>
            <pc:sldMk cId="0" sldId="272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11.913" v="405" actId="1035"/>
          <ac:spMkLst>
            <pc:docMk/>
            <pc:sldMk cId="0" sldId="272"/>
            <ac:spMk id="1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11.913" v="405" actId="1035"/>
          <ac:spMkLst>
            <pc:docMk/>
            <pc:sldMk cId="0" sldId="272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11.913" v="405" actId="1035"/>
          <ac:spMkLst>
            <pc:docMk/>
            <pc:sldMk cId="0" sldId="272"/>
            <ac:spMk id="1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36.329" v="416" actId="20577"/>
          <ac:spMkLst>
            <pc:docMk/>
            <pc:sldMk cId="0" sldId="272"/>
            <ac:spMk id="18" creationId="{00000000-0000-0000-0000-000000000000}"/>
          </ac:spMkLst>
        </pc:spChg>
      </pc:sldChg>
      <pc:sldChg chg="addSp delSp modSp mod">
        <pc:chgData name="Emilio Pascadopoli" userId="649cad633bf5c22c" providerId="LiveId" clId="{37E6CCB7-E231-4B61-947F-CB2B29EAD1D0}" dt="2026-10-07T07:29:22.309" v="448" actId="1076"/>
        <pc:sldMkLst>
          <pc:docMk/>
          <pc:sldMk cId="0" sldId="273"/>
        </pc:sldMkLst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8.885" v="421" actId="107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8:53.173" v="420" actId="107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29:22.309" v="448" actId="1076"/>
          <ac:spMkLst>
            <pc:docMk/>
            <pc:sldMk cId="0" sldId="273"/>
            <ac:spMk id="22" creationId="{00000000-0000-0000-0000-000000000000}"/>
          </ac:spMkLst>
        </pc:spChg>
        <pc:spChg chg="add del mod">
          <ac:chgData name="Emilio Pascadopoli" userId="649cad633bf5c22c" providerId="LiveId" clId="{37E6CCB7-E231-4B61-947F-CB2B29EAD1D0}" dt="2026-10-07T07:28:45.955" v="419"/>
          <ac:spMkLst>
            <pc:docMk/>
            <pc:sldMk cId="0" sldId="273"/>
            <ac:spMk id="23" creationId="{4CD4F931-EE95-D991-9012-CC93BF274C49}"/>
          </ac:spMkLst>
        </pc:spChg>
      </pc:sldChg>
      <pc:sldChg chg="modSp mod">
        <pc:chgData name="Emilio Pascadopoli" userId="649cad633bf5c22c" providerId="LiveId" clId="{37E6CCB7-E231-4B61-947F-CB2B29EAD1D0}" dt="2026-10-07T07:39:08.696" v="516" actId="1076"/>
        <pc:sldMkLst>
          <pc:docMk/>
          <pc:sldMk cId="0" sldId="276"/>
        </pc:sldMkLst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2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39:08.696" v="516" actId="1076"/>
          <ac:spMkLst>
            <pc:docMk/>
            <pc:sldMk cId="0" sldId="276"/>
            <ac:spMk id="24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41:42.705" v="517" actId="1076"/>
        <pc:sldMkLst>
          <pc:docMk/>
          <pc:sldMk cId="0" sldId="277"/>
        </pc:sldMkLst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42.705" v="517" actId="1076"/>
          <ac:spMkLst>
            <pc:docMk/>
            <pc:sldMk cId="0" sldId="277"/>
            <ac:spMk id="18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42:01.070" v="520" actId="1076"/>
        <pc:sldMkLst>
          <pc:docMk/>
          <pc:sldMk cId="0" sldId="278"/>
        </pc:sldMkLst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54.518" v="519" actId="1076"/>
          <ac:spMkLst>
            <pc:docMk/>
            <pc:sldMk cId="0" sldId="278"/>
            <ac:spMk id="2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2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1:54.518" v="519" actId="1076"/>
          <ac:spMkLst>
            <pc:docMk/>
            <pc:sldMk cId="0" sldId="278"/>
            <ac:spMk id="2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01.070" v="520" actId="1076"/>
          <ac:spMkLst>
            <pc:docMk/>
            <pc:sldMk cId="0" sldId="278"/>
            <ac:spMk id="24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42:13.117" v="521" actId="1076"/>
        <pc:sldMkLst>
          <pc:docMk/>
          <pc:sldMk cId="0" sldId="279"/>
        </pc:sldMkLst>
        <pc:spChg chg="mod">
          <ac:chgData name="Emilio Pascadopoli" userId="649cad633bf5c22c" providerId="LiveId" clId="{37E6CCB7-E231-4B61-947F-CB2B29EAD1D0}" dt="2026-10-07T07:42:13.117" v="521" actId="1076"/>
          <ac:spMkLst>
            <pc:docMk/>
            <pc:sldMk cId="0" sldId="279"/>
            <ac:spMk id="6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42:29.108" v="522" actId="1076"/>
        <pc:sldMkLst>
          <pc:docMk/>
          <pc:sldMk cId="0" sldId="280"/>
        </pc:sldMkLst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29.108" v="522" actId="1076"/>
          <ac:spMkLst>
            <pc:docMk/>
            <pc:sldMk cId="0" sldId="280"/>
            <ac:spMk id="18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42:48.571" v="524" actId="1076"/>
        <pc:sldMkLst>
          <pc:docMk/>
          <pc:sldMk cId="0" sldId="281"/>
        </pc:sldMkLst>
        <pc:spChg chg="mod">
          <ac:chgData name="Emilio Pascadopoli" userId="649cad633bf5c22c" providerId="LiveId" clId="{37E6CCB7-E231-4B61-947F-CB2B29EAD1D0}" dt="2026-10-07T07:42:48.571" v="524" actId="1076"/>
          <ac:spMkLst>
            <pc:docMk/>
            <pc:sldMk cId="0" sldId="281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1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2:41.403" v="523" actId="1076"/>
          <ac:spMkLst>
            <pc:docMk/>
            <pc:sldMk cId="0" sldId="281"/>
            <ac:spMk id="20" creationId="{00000000-0000-0000-0000-000000000000}"/>
          </ac:spMkLst>
        </pc:spChg>
      </pc:sldChg>
      <pc:sldChg chg="modSp mod">
        <pc:chgData name="Emilio Pascadopoli" userId="649cad633bf5c22c" providerId="LiveId" clId="{37E6CCB7-E231-4B61-947F-CB2B29EAD1D0}" dt="2026-10-07T07:43:16.944" v="558" actId="20577"/>
        <pc:sldMkLst>
          <pc:docMk/>
          <pc:sldMk cId="0" sldId="282"/>
        </pc:sldMkLst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8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9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14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04.951" v="525" actId="1076"/>
          <ac:spMkLst>
            <pc:docMk/>
            <pc:sldMk cId="0" sldId="282"/>
            <ac:spMk id="17" creationId="{00000000-0000-0000-0000-000000000000}"/>
          </ac:spMkLst>
        </pc:spChg>
        <pc:spChg chg="mod">
          <ac:chgData name="Emilio Pascadopoli" userId="649cad633bf5c22c" providerId="LiveId" clId="{37E6CCB7-E231-4B61-947F-CB2B29EAD1D0}" dt="2026-10-07T07:43:16.944" v="558" actId="20577"/>
          <ac:spMkLst>
            <pc:docMk/>
            <pc:sldMk cId="0" sldId="282"/>
            <ac:spMk id="19" creationId="{00000000-0000-0000-0000-000000000000}"/>
          </ac:spMkLst>
        </pc:spChg>
      </pc:sldChg>
      <pc:sldChg chg="addSp delSp modSp new mod">
        <pc:chgData name="Emilio Pascadopoli" userId="649cad633bf5c22c" providerId="LiveId" clId="{37E6CCB7-E231-4B61-947F-CB2B29EAD1D0}" dt="2026-10-07T07:38:52.164" v="515" actId="1076"/>
        <pc:sldMkLst>
          <pc:docMk/>
          <pc:sldMk cId="3802539068" sldId="283"/>
        </pc:sldMkLst>
        <pc:spChg chg="mod">
          <ac:chgData name="Emilio Pascadopoli" userId="649cad633bf5c22c" providerId="LiveId" clId="{37E6CCB7-E231-4B61-947F-CB2B29EAD1D0}" dt="2026-10-07T07:29:51.461" v="473" actId="1076"/>
          <ac:spMkLst>
            <pc:docMk/>
            <pc:sldMk cId="3802539068" sldId="283"/>
            <ac:spMk id="2" creationId="{6C7CFDC5-53D8-53AA-C43F-44DC088C9D90}"/>
          </ac:spMkLst>
        </pc:spChg>
        <pc:spChg chg="add del mod">
          <ac:chgData name="Emilio Pascadopoli" userId="649cad633bf5c22c" providerId="LiveId" clId="{37E6CCB7-E231-4B61-947F-CB2B29EAD1D0}" dt="2026-10-07T07:29:54.906" v="475"/>
          <ac:spMkLst>
            <pc:docMk/>
            <pc:sldMk cId="3802539068" sldId="283"/>
            <ac:spMk id="4" creationId="{7E184E45-8939-251C-138A-542A59E1A590}"/>
          </ac:spMkLst>
        </pc:spChg>
        <pc:picChg chg="add mod">
          <ac:chgData name="Emilio Pascadopoli" userId="649cad633bf5c22c" providerId="LiveId" clId="{37E6CCB7-E231-4B61-947F-CB2B29EAD1D0}" dt="2026-10-07T07:38:52.164" v="515" actId="1076"/>
          <ac:picMkLst>
            <pc:docMk/>
            <pc:sldMk cId="3802539068" sldId="283"/>
            <ac:picMk id="6" creationId="{A7D485F6-9711-EF6D-56DC-DA79C7187DEA}"/>
          </ac:picMkLst>
        </pc:picChg>
      </pc:sldChg>
      <pc:sldChg chg="addSp modSp add mod">
        <pc:chgData name="Emilio Pascadopoli" userId="649cad633bf5c22c" providerId="LiveId" clId="{37E6CCB7-E231-4B61-947F-CB2B29EAD1D0}" dt="2026-10-07T07:35:59.772" v="511" actId="1076"/>
        <pc:sldMkLst>
          <pc:docMk/>
          <pc:sldMk cId="914952736" sldId="284"/>
        </pc:sldMkLst>
        <pc:spChg chg="mod">
          <ac:chgData name="Emilio Pascadopoli" userId="649cad633bf5c22c" providerId="LiveId" clId="{37E6CCB7-E231-4B61-947F-CB2B29EAD1D0}" dt="2026-10-07T07:31:19.179" v="500" actId="20577"/>
          <ac:spMkLst>
            <pc:docMk/>
            <pc:sldMk cId="914952736" sldId="284"/>
            <ac:spMk id="2" creationId="{1BD5D8D9-89F7-A1D7-D4DD-8E8B86BF0B90}"/>
          </ac:spMkLst>
        </pc:spChg>
        <pc:picChg chg="add mod">
          <ac:chgData name="Emilio Pascadopoli" userId="649cad633bf5c22c" providerId="LiveId" clId="{37E6CCB7-E231-4B61-947F-CB2B29EAD1D0}" dt="2026-10-07T07:35:59.772" v="511" actId="1076"/>
          <ac:picMkLst>
            <pc:docMk/>
            <pc:sldMk cId="914952736" sldId="284"/>
            <ac:picMk id="5" creationId="{EB1CCC11-4D54-9599-961A-40249FE6C2AD}"/>
          </ac:picMkLst>
        </pc:picChg>
        <pc:picChg chg="add mod">
          <ac:chgData name="Emilio Pascadopoli" userId="649cad633bf5c22c" providerId="LiveId" clId="{37E6CCB7-E231-4B61-947F-CB2B29EAD1D0}" dt="2026-10-07T07:35:58.167" v="510" actId="1076"/>
          <ac:picMkLst>
            <pc:docMk/>
            <pc:sldMk cId="914952736" sldId="284"/>
            <ac:picMk id="7" creationId="{9AC15D75-3145-D110-8F73-F5D88CFDA1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51BCB-52AD-454F-A705-AD095FBF8906}" type="datetimeFigureOut">
              <a:rPr lang="it-IT" smtClean="0"/>
              <a:t>07/10/2026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85AEC-7CEB-D34F-A5EB-7576A998B1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120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2184400"/>
            <a:ext cx="11262866" cy="42061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1191" y="3263152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4000" cap="none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34D7ACBC-5C7A-0F42-84C5-AC4F02517142}"/>
              </a:ext>
            </a:extLst>
          </p:cNvPr>
          <p:cNvGrpSpPr/>
          <p:nvPr userDrawn="1"/>
        </p:nvGrpSpPr>
        <p:grpSpPr>
          <a:xfrm>
            <a:off x="581191" y="866279"/>
            <a:ext cx="3311235" cy="1005958"/>
            <a:chOff x="3407410" y="3972442"/>
            <a:chExt cx="2322961" cy="705719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6746EB36-E64D-7C46-94C5-415B24979FDD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45" r="6756" b="16470"/>
            <a:stretch/>
          </p:blipFill>
          <p:spPr bwMode="auto">
            <a:xfrm>
              <a:off x="4039870" y="3972443"/>
              <a:ext cx="1690501" cy="59499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E6B00A7B-7FE8-074B-BEC8-C41877F1D534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661"/>
            <a:stretch/>
          </p:blipFill>
          <p:spPr bwMode="auto">
            <a:xfrm>
              <a:off x="3407410" y="3972442"/>
              <a:ext cx="632460" cy="70571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7378D03D-7342-EC4A-A3DB-CA2467CCBF12}"/>
              </a:ext>
            </a:extLst>
          </p:cNvPr>
          <p:cNvGrpSpPr/>
          <p:nvPr userDrawn="1"/>
        </p:nvGrpSpPr>
        <p:grpSpPr>
          <a:xfrm>
            <a:off x="8258636" y="712673"/>
            <a:ext cx="3316104" cy="1159564"/>
            <a:chOff x="6192264" y="-33926"/>
            <a:chExt cx="3015235" cy="1054356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4572AD16-9077-884A-9B76-46A06D35D11B}"/>
                </a:ext>
              </a:extLst>
            </p:cNvPr>
            <p:cNvSpPr/>
            <p:nvPr/>
          </p:nvSpPr>
          <p:spPr>
            <a:xfrm>
              <a:off x="6192264" y="-33926"/>
              <a:ext cx="3015235" cy="1054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45D49875-436A-6540-B3E1-62B04997C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2265" y="-33925"/>
              <a:ext cx="2962658" cy="1013541"/>
            </a:xfrm>
            <a:prstGeom prst="rect">
              <a:avLst/>
            </a:prstGeom>
          </p:spPr>
        </p:pic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31A5962-5956-B043-9C64-1E130E785476}"/>
              </a:ext>
            </a:extLst>
          </p:cNvPr>
          <p:cNvSpPr txBox="1"/>
          <p:nvPr userDrawn="1"/>
        </p:nvSpPr>
        <p:spPr>
          <a:xfrm>
            <a:off x="4983480" y="6488668"/>
            <a:ext cx="2240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800">
                <a:solidFill>
                  <a:srgbClr val="465359"/>
                </a:solidFill>
                <a:latin typeface="Gill Sans MT"/>
              </a:rPr>
              <a:t>A.A. 2025/2026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9DAE651-9677-794E-93C7-098FCAEB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0267" y="6438900"/>
            <a:ext cx="1052510" cy="3651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fld id="{FDFA768B-B425-2D4D-9C82-FC917DD33DFB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1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8"/>
            <a:ext cx="11309338" cy="66964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9434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09407625-DF25-534A-8E78-AFA4B3FCEC8E}"/>
              </a:ext>
            </a:extLst>
          </p:cNvPr>
          <p:cNvCxnSpPr/>
          <p:nvPr userDrawn="1"/>
        </p:nvCxnSpPr>
        <p:spPr>
          <a:xfrm>
            <a:off x="260350" y="6438900"/>
            <a:ext cx="11671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CF75E0-052E-1149-963A-30B793B90D9C}"/>
              </a:ext>
            </a:extLst>
          </p:cNvPr>
          <p:cNvSpPr txBox="1"/>
          <p:nvPr userDrawn="1"/>
        </p:nvSpPr>
        <p:spPr>
          <a:xfrm>
            <a:off x="4983480" y="6488668"/>
            <a:ext cx="2240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800">
                <a:solidFill>
                  <a:srgbClr val="465359"/>
                </a:solidFill>
                <a:latin typeface="Gill Sans MT"/>
              </a:rPr>
              <a:t>A.A. 2025/2026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E94F2486-AE22-5045-9414-25DF2DC1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0267" y="6438900"/>
            <a:ext cx="1052510" cy="3651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fld id="{FDFA768B-B425-2D4D-9C82-FC917DD33DFB}" type="slidenum">
              <a:rPr lang="en-US" smtClean="0"/>
              <a:pPr/>
              <a:t>‹N›</a:t>
            </a:fld>
            <a:endParaRPr lang="en-US" dirty="0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EF39C106-8EC2-E841-97FC-C55A625F622D}"/>
              </a:ext>
            </a:extLst>
          </p:cNvPr>
          <p:cNvGrpSpPr/>
          <p:nvPr userDrawn="1"/>
        </p:nvGrpSpPr>
        <p:grpSpPr>
          <a:xfrm>
            <a:off x="440286" y="51870"/>
            <a:ext cx="1299614" cy="394825"/>
            <a:chOff x="3407410" y="3972442"/>
            <a:chExt cx="2322960" cy="705719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D9021408-9870-8C49-8781-0E73770E1CEE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45" r="6756" b="16470"/>
            <a:stretch/>
          </p:blipFill>
          <p:spPr bwMode="auto">
            <a:xfrm>
              <a:off x="4039869" y="3972443"/>
              <a:ext cx="1690501" cy="59499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9909EF99-15CB-104C-A126-FDAFAFC140D8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661"/>
            <a:stretch/>
          </p:blipFill>
          <p:spPr bwMode="auto">
            <a:xfrm>
              <a:off x="3407410" y="3972442"/>
              <a:ext cx="632460" cy="70571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AFDB8F31-A700-3644-810D-0C2DB78F069F}"/>
              </a:ext>
            </a:extLst>
          </p:cNvPr>
          <p:cNvGrpSpPr/>
          <p:nvPr userDrawn="1"/>
        </p:nvGrpSpPr>
        <p:grpSpPr>
          <a:xfrm>
            <a:off x="10439481" y="13517"/>
            <a:ext cx="1171327" cy="409585"/>
            <a:chOff x="6192264" y="-33926"/>
            <a:chExt cx="3015235" cy="1054356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0C241E99-BF2C-6444-A385-269204FE94D6}"/>
                </a:ext>
              </a:extLst>
            </p:cNvPr>
            <p:cNvSpPr/>
            <p:nvPr/>
          </p:nvSpPr>
          <p:spPr>
            <a:xfrm>
              <a:off x="6192264" y="-33926"/>
              <a:ext cx="3015235" cy="1054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>
              <a:extLst>
                <a:ext uri="{FF2B5EF4-FFF2-40B4-BE49-F238E27FC236}">
                  <a16:creationId xmlns:a16="http://schemas.microsoft.com/office/drawing/2014/main" id="{60796ED2-9F40-D84B-910F-4B12B5F23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2265" y="-33925"/>
              <a:ext cx="2962658" cy="1013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384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C915359-B154-6243-B9C5-F4173ED84D38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8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86B4-36BC-A640-86B2-482B357805E0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2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7205-ADA3-9E47-8B5F-382C2581E69E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99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BEB7C-992A-1A47-858E-C79BBF4EA450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17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44428-7BB3-6B47-A5F0-4FF28B2E2BE6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3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F38DDAA-F5F8-8E4F-9208-D222CF731B7C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2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41C9-4C04-8449-88F0-F38305DAB3C3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0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40E0-91F1-4C4E-A31C-24D8870A9A77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72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DB294CD-302C-E247-9B23-A5D2939229A1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54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ADBB079-9EDC-4440-8B08-CB96B47BCD1D}" type="datetime1">
              <a:rPr lang="it-IT" smtClean="0"/>
              <a:t>07/10/2026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34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460" y="2730597"/>
            <a:ext cx="7860792" cy="566928"/>
          </a:xfrm>
        </p:spPr>
        <p:txBody>
          <a:bodyPr>
            <a:normAutofit fontScale="90000"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Gill Sans MT"/>
              </a:rPr>
              <a:t>PROGETTO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3639312"/>
            <a:ext cx="8183879" cy="7632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300" b="0" i="0" dirty="0" err="1">
                <a:solidFill>
                  <a:srgbClr val="FFFFFF"/>
                </a:solidFill>
                <a:latin typeface="Gill Sans MT"/>
              </a:rPr>
              <a:t>Monitoraggio</a:t>
            </a:r>
            <a:r>
              <a:rPr sz="2300" b="0" i="0" dirty="0">
                <a:solidFill>
                  <a:srgbClr val="FFFFFF"/>
                </a:solidFill>
                <a:latin typeface="Gill Sans MT"/>
              </a:rPr>
              <a:t> </a:t>
            </a:r>
            <a:r>
              <a:rPr sz="2300" b="0" i="0" dirty="0" err="1">
                <a:solidFill>
                  <a:srgbClr val="FFFFFF"/>
                </a:solidFill>
                <a:latin typeface="Gill Sans MT"/>
              </a:rPr>
              <a:t>comportamentale</a:t>
            </a:r>
            <a:r>
              <a:rPr sz="2300" b="0" i="0" dirty="0">
                <a:solidFill>
                  <a:srgbClr val="FFFFFF"/>
                </a:solidFill>
                <a:latin typeface="Gill Sans MT"/>
              </a:rPr>
              <a:t> </a:t>
            </a:r>
            <a:r>
              <a:rPr sz="2300" b="0" i="0" dirty="0" err="1">
                <a:solidFill>
                  <a:srgbClr val="FFFFFF"/>
                </a:solidFill>
                <a:latin typeface="Gill Sans MT"/>
              </a:rPr>
              <a:t>domestico</a:t>
            </a:r>
            <a:r>
              <a:rPr sz="2300" b="0" i="0" dirty="0">
                <a:solidFill>
                  <a:srgbClr val="FFFFFF"/>
                </a:solidFill>
                <a:latin typeface="Gill Sans MT"/>
              </a:rPr>
              <a:t> con Edge AI</a:t>
            </a:r>
            <a:endParaRPr lang="it-IT" sz="2300" b="0" i="0" dirty="0">
              <a:solidFill>
                <a:srgbClr val="FFFFFF"/>
              </a:solidFill>
              <a:latin typeface="Gill Sans MT"/>
            </a:endParaRPr>
          </a:p>
          <a:p>
            <a:pPr algn="l"/>
            <a:r>
              <a:rPr lang="it-IT" sz="2300" b="0" i="0" dirty="0">
                <a:solidFill>
                  <a:srgbClr val="FFFFFF"/>
                </a:solidFill>
                <a:latin typeface="Gill Sans MT"/>
              </a:rPr>
              <a:t>tramite RPi5, Beacon e Google Watch</a:t>
            </a:r>
            <a:endParaRPr sz="2300" b="0" i="0" dirty="0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4945553"/>
            <a:ext cx="60350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ill Sans MT"/>
              </a:rPr>
              <a:t>Emilio Pascadopoli · Daniel Spedicato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11313"/>
            <a:ext cx="81381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Gill Sans MT"/>
              </a:rPr>
              <a:t>Docente: Luigi Patrono  ·  Laurea Magistrale in Ingegneria Informatica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4389120"/>
            <a:ext cx="1828800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l Sans MT"/>
              </a:rPr>
              <a:t>A.A.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INTRODUZIONE · CONTESTO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49675"/>
            <a:ext cx="10972800" cy="2644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300" b="1" i="0" dirty="0">
                <a:solidFill>
                  <a:srgbClr val="465359"/>
                </a:solidFill>
                <a:latin typeface="Gill Sans MT"/>
              </a:rPr>
              <a:t>Il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segnale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più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utile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può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essere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un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cambiamento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della routine, non un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singolo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valore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2300" b="1" i="0" dirty="0" err="1">
                <a:solidFill>
                  <a:srgbClr val="465359"/>
                </a:solidFill>
                <a:latin typeface="Gill Sans MT"/>
              </a:rPr>
              <a:t>fisiologico</a:t>
            </a:r>
            <a:r>
              <a:rPr sz="2300" b="1" i="0" dirty="0">
                <a:solidFill>
                  <a:srgbClr val="465359"/>
                </a:solidFill>
                <a:latin typeface="Gill Sans MT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027756" y="2796787"/>
            <a:ext cx="658368" cy="658368"/>
          </a:xfrm>
          <a:prstGeom prst="ellipse">
            <a:avLst/>
          </a:prstGeom>
          <a:solidFill>
            <a:srgbClr val="465359"/>
          </a:solidFill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ill Sans M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2428" y="2741923"/>
            <a:ext cx="2423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3D3D3D"/>
                </a:solidFill>
                <a:latin typeface="Gill Sans MT"/>
              </a:rPr>
              <a:t>Osservare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2428" y="3107683"/>
            <a:ext cx="256032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Attività quotidiane, permanenze e transizioni tra ambienti.</a:t>
            </a:r>
          </a:p>
        </p:txBody>
      </p:sp>
      <p:sp>
        <p:nvSpPr>
          <p:cNvPr id="7" name="Oval 6"/>
          <p:cNvSpPr/>
          <p:nvPr/>
        </p:nvSpPr>
        <p:spPr>
          <a:xfrm>
            <a:off x="4502476" y="2796787"/>
            <a:ext cx="658368" cy="658368"/>
          </a:xfrm>
          <a:prstGeom prst="ellipse">
            <a:avLst/>
          </a:prstGeom>
          <a:solidFill>
            <a:srgbClr val="5A8071"/>
          </a:solidFill>
          <a:ln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ill Sans M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7148" y="2741923"/>
            <a:ext cx="2423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3D3D3D"/>
                </a:solidFill>
                <a:latin typeface="Gill Sans MT"/>
              </a:rPr>
              <a:t>Contestualizzare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7148" y="3107683"/>
            <a:ext cx="256032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Integrare dati wearable e qualità delle misure.</a:t>
            </a:r>
          </a:p>
        </p:txBody>
      </p:sp>
      <p:sp>
        <p:nvSpPr>
          <p:cNvPr id="10" name="Oval 9"/>
          <p:cNvSpPr/>
          <p:nvPr/>
        </p:nvSpPr>
        <p:spPr>
          <a:xfrm>
            <a:off x="7977196" y="2796787"/>
            <a:ext cx="658368" cy="658368"/>
          </a:xfrm>
          <a:prstGeom prst="ellipse">
            <a:avLst/>
          </a:prstGeom>
          <a:solidFill>
            <a:srgbClr val="ED8428"/>
          </a:solidFill>
          <a:ln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ill Sans M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1868" y="2741923"/>
            <a:ext cx="2423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3D3D3D"/>
                </a:solidFill>
                <a:latin typeface="Gill Sans MT"/>
              </a:rPr>
              <a:t>Segnalare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1868" y="3107683"/>
            <a:ext cx="256032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Evidenziare variazioni da approfondire dal medico.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425405"/>
            <a:ext cx="10744200" cy="105156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900" b="1">
                <a:solidFill>
                  <a:srgbClr val="465359"/>
                </a:solidFill>
                <a:latin typeface="Gill Sans MT"/>
              </a:rPr>
              <a:t>Cambio di paradigma: dal monitoraggio strettamente fisiologico al monitoraggio comportamentale e spaziale delle ADL.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INTRODUZIONE · PROBLEMA E OBIETTIVO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32732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rgbClr val="ED8428"/>
                </a:solidFill>
                <a:latin typeface="Gill Sans MT"/>
              </a:rPr>
              <a:t>DOMANDA DI PROGETTO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81351"/>
            <a:ext cx="49834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465359"/>
                </a:solidFill>
                <a:latin typeface="Gill Sans MT"/>
              </a:rPr>
              <a:t>Come aiutare il medico a riconoscere un cambiamento nella vita quotidiana senza richiedere un diario continuo?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23560" y="2520841"/>
            <a:ext cx="822960" cy="0"/>
          </a:xfrm>
          <a:prstGeom prst="line">
            <a:avLst/>
          </a:prstGeom>
          <a:ln w="381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65392" y="1898471"/>
            <a:ext cx="4709160" cy="1417320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Gill Sans MT"/>
              </a:rPr>
              <a:t>Sistema IoT di </a:t>
            </a:r>
            <a:r>
              <a:rPr sz="2000" b="1" dirty="0" err="1">
                <a:solidFill>
                  <a:srgbClr val="FFFFFF"/>
                </a:solidFill>
                <a:latin typeface="Gill Sans MT"/>
              </a:rPr>
              <a:t>monitoraggio</a:t>
            </a:r>
            <a:r>
              <a:rPr sz="2000" b="1" dirty="0">
                <a:solidFill>
                  <a:srgbClr val="FFFFFF"/>
                </a:solidFill>
                <a:latin typeface="Gill Sans MT"/>
              </a:rPr>
              <a:t> </a:t>
            </a:r>
            <a:r>
              <a:rPr lang="it-IT" sz="2000" b="1" dirty="0">
                <a:solidFill>
                  <a:srgbClr val="FFFFFF"/>
                </a:solidFill>
                <a:latin typeface="Gill Sans MT"/>
              </a:rPr>
              <a:t>con</a:t>
            </a:r>
            <a:r>
              <a:rPr sz="2000" b="1" dirty="0">
                <a:solidFill>
                  <a:srgbClr val="FFFFFF"/>
                </a:solidFill>
                <a:latin typeface="Gill Sans MT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Gill Sans MT"/>
              </a:rPr>
              <a:t>coordinamento</a:t>
            </a:r>
            <a:r>
              <a:rPr sz="2000" b="1" dirty="0">
                <a:solidFill>
                  <a:srgbClr val="FFFFFF"/>
                </a:solidFill>
                <a:latin typeface="Gill Sans MT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Gill Sans MT"/>
              </a:rPr>
              <a:t>dell’assistenza</a:t>
            </a:r>
            <a:endParaRPr sz="2000" b="1" dirty="0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3772991"/>
            <a:ext cx="384048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763847"/>
            <a:ext cx="1143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Raccoglie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763847"/>
            <a:ext cx="3657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3D3D3D"/>
                </a:solidFill>
                <a:latin typeface="Gill Sans MT"/>
              </a:rPr>
              <a:t>dati ambientali e wearable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431359"/>
            <a:ext cx="384048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422215"/>
            <a:ext cx="1143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Interpreta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22215"/>
            <a:ext cx="3657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3D3D3D"/>
                </a:solidFill>
                <a:latin typeface="Gill Sans MT"/>
              </a:rPr>
              <a:t>finestre, qualità e anomaly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89727"/>
            <a:ext cx="384048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80583"/>
            <a:ext cx="1143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Coordina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080583"/>
            <a:ext cx="3657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3D3D3D"/>
                </a:solidFill>
                <a:latin typeface="Gill Sans MT"/>
              </a:rPr>
              <a:t>attività, messaggi e questionari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3864431"/>
            <a:ext cx="4709160" cy="1097280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3D3D3D"/>
                </a:solidFill>
                <a:latin typeface="Gill Sans MT"/>
              </a:rPr>
              <a:t>Triage = </a:t>
            </a:r>
            <a:r>
              <a:rPr sz="1800" b="1" dirty="0" err="1">
                <a:solidFill>
                  <a:srgbClr val="3D3D3D"/>
                </a:solidFill>
                <a:latin typeface="Gill Sans MT"/>
              </a:rPr>
              <a:t>priorità</a:t>
            </a:r>
            <a:r>
              <a:rPr sz="1800" b="1" dirty="0">
                <a:solidFill>
                  <a:srgbClr val="3D3D3D"/>
                </a:solidFill>
                <a:latin typeface="Gill Sans MT"/>
              </a:rPr>
              <a:t> di revision</a:t>
            </a:r>
            <a:r>
              <a:rPr lang="it-IT" sz="1800" b="1" dirty="0">
                <a:solidFill>
                  <a:srgbClr val="3D3D3D"/>
                </a:solidFill>
                <a:latin typeface="Gill Sans MT"/>
              </a:rPr>
              <a:t>e, senza alcun tipo di</a:t>
            </a:r>
            <a:r>
              <a:rPr sz="1800" b="1" dirty="0">
                <a:solidFill>
                  <a:srgbClr val="3D3D3D"/>
                </a:solidFill>
                <a:latin typeface="Gill Sans MT"/>
              </a:rPr>
              <a:t> </a:t>
            </a:r>
            <a:r>
              <a:rPr sz="1800" b="1" dirty="0" err="1">
                <a:solidFill>
                  <a:srgbClr val="3D3D3D"/>
                </a:solidFill>
                <a:latin typeface="Gill Sans MT"/>
              </a:rPr>
              <a:t>diagnosi</a:t>
            </a:r>
            <a:r>
              <a:rPr lang="it-IT" b="1" dirty="0">
                <a:solidFill>
                  <a:srgbClr val="3D3D3D"/>
                </a:solidFill>
                <a:latin typeface="Gill Sans MT"/>
              </a:rPr>
              <a:t> e nessuna </a:t>
            </a:r>
            <a:r>
              <a:rPr sz="1800" b="1" dirty="0" err="1">
                <a:solidFill>
                  <a:srgbClr val="3D3D3D"/>
                </a:solidFill>
                <a:latin typeface="Gill Sans MT"/>
              </a:rPr>
              <a:t>probabilità</a:t>
            </a:r>
            <a:r>
              <a:rPr sz="1800" b="1" dirty="0">
                <a:solidFill>
                  <a:srgbClr val="3D3D3D"/>
                </a:solidFill>
                <a:latin typeface="Gill Sans MT"/>
              </a:rPr>
              <a:t> di </a:t>
            </a:r>
            <a:r>
              <a:rPr sz="1800" b="1" dirty="0" err="1">
                <a:solidFill>
                  <a:srgbClr val="3D3D3D"/>
                </a:solidFill>
                <a:latin typeface="Gill Sans MT"/>
              </a:rPr>
              <a:t>malattia</a:t>
            </a:r>
            <a:r>
              <a:rPr sz="1800" b="1" dirty="0">
                <a:solidFill>
                  <a:srgbClr val="3D3D3D"/>
                </a:solidFill>
                <a:latin typeface="Gill Sans M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RELATED WORKS · DAL MONITORAGGIO FISIOLOGICO ALLA ROUTINE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39830"/>
            <a:ext cx="5230368" cy="475488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ill Sans MT"/>
              </a:rPr>
              <a:t>Approccio prevalente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839830"/>
            <a:ext cx="5230368" cy="475488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Gill Sans MT"/>
              </a:rPr>
              <a:t>Soluzione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07342"/>
            <a:ext cx="1143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D8428"/>
                </a:solidFill>
                <a:latin typeface="Gill Sans MT"/>
              </a:rPr>
              <a:t>Segnali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507342"/>
            <a:ext cx="384048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Parametri fisiologici grezzi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07342"/>
            <a:ext cx="45720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3D3D3D"/>
                </a:solidFill>
                <a:latin typeface="Gill Sans MT"/>
              </a:rPr>
              <a:t>Routine, posizione + wearable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964542"/>
            <a:ext cx="10762488" cy="0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3165710"/>
            <a:ext cx="1143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D8428"/>
                </a:solidFill>
                <a:latin typeface="Gill Sans MT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165710"/>
            <a:ext cx="384048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Prototipi/custom spesso complessi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65710"/>
            <a:ext cx="45720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Dispositivi commerciali + beacon 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622910"/>
            <a:ext cx="10762488" cy="0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3824078"/>
            <a:ext cx="1143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D8428"/>
                </a:solidFill>
                <a:latin typeface="Gill Sans MT"/>
              </a:rPr>
              <a:t>Elaborazione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824078"/>
            <a:ext cx="384048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Dato come misura primaria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24078"/>
            <a:ext cx="45720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3D3D3D"/>
                </a:solidFill>
                <a:latin typeface="Gill Sans MT"/>
              </a:rPr>
              <a:t>Edge AI su finestre e pattern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281277"/>
            <a:ext cx="10762488" cy="0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4482446"/>
            <a:ext cx="1143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D8428"/>
                </a:solidFill>
                <a:latin typeface="Gill Sans MT"/>
              </a:rPr>
              <a:t>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482446"/>
            <a:ext cx="384048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Maggiore dipendenza dal flusso grezzo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2446"/>
            <a:ext cx="45720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Niente telecamere/microfoni; dati aggregati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939646"/>
            <a:ext cx="10762488" cy="0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5140814"/>
            <a:ext cx="1143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D8428"/>
                </a:solidFill>
                <a:latin typeface="Gill Sans MT"/>
              </a:rPr>
              <a:t>Obiettivo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140814"/>
            <a:ext cx="384048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Gill Sans MT"/>
              </a:rPr>
              <a:t>Monitorare valori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40814"/>
            <a:ext cx="45720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3D3D3D"/>
                </a:solidFill>
                <a:latin typeface="Gill Sans MT"/>
              </a:rPr>
              <a:t>Rilevare deviazioni da approfondire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598014"/>
            <a:ext cx="10762488" cy="0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ANALISI DEI REQUISITI · ATTORI E CASI D’USO</a:t>
            </a:r>
          </a:p>
        </p:txBody>
      </p:sp>
      <p:sp>
        <p:nvSpPr>
          <p:cNvPr id="3" name="Oval 2"/>
          <p:cNvSpPr/>
          <p:nvPr/>
        </p:nvSpPr>
        <p:spPr>
          <a:xfrm>
            <a:off x="1898759" y="1696862"/>
            <a:ext cx="758952" cy="758952"/>
          </a:xfrm>
          <a:prstGeom prst="ellipse">
            <a:avLst/>
          </a:prstGeom>
          <a:solidFill>
            <a:srgbClr val="465359"/>
          </a:solidFill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ill Sans M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312" y="2528966"/>
            <a:ext cx="33832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3D3D3D"/>
                </a:solidFill>
                <a:latin typeface="Gill Sans MT"/>
              </a:rPr>
              <a:t>MEDICO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9304" y="2894726"/>
            <a:ext cx="1225296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l Sans MT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312" y="3324494"/>
            <a:ext cx="3383280" cy="150876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3D3D3D"/>
                </a:solidFill>
                <a:latin typeface="Gill Sans MT"/>
              </a:rPr>
              <a:t>Legge trend e contesto</a:t>
            </a:r>
            <a:br/>
            <a:r>
              <a:rPr sz="1500" b="0">
                <a:solidFill>
                  <a:srgbClr val="3D3D3D"/>
                </a:solidFill>
                <a:latin typeface="Gill Sans MT"/>
              </a:rPr>
              <a:t>Gestisce alert</a:t>
            </a:r>
            <a:br/>
            <a:r>
              <a:rPr sz="1500" b="0">
                <a:solidFill>
                  <a:srgbClr val="3D3D3D"/>
                </a:solidFill>
                <a:latin typeface="Gill Sans MT"/>
              </a:rPr>
              <a:t>Assegna attività e messaggi</a:t>
            </a:r>
          </a:p>
        </p:txBody>
      </p:sp>
      <p:sp>
        <p:nvSpPr>
          <p:cNvPr id="7" name="Oval 6"/>
          <p:cNvSpPr/>
          <p:nvPr/>
        </p:nvSpPr>
        <p:spPr>
          <a:xfrm>
            <a:off x="5720951" y="1696862"/>
            <a:ext cx="758952" cy="758952"/>
          </a:xfrm>
          <a:prstGeom prst="ellipse">
            <a:avLst/>
          </a:prstGeom>
          <a:solidFill>
            <a:srgbClr val="5A8071"/>
          </a:solidFill>
          <a:ln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ill Sans MT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2503" y="2528966"/>
            <a:ext cx="33832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3D3D3D"/>
                </a:solidFill>
                <a:latin typeface="Gill Sans MT"/>
              </a:rPr>
              <a:t>PAZIENTE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1495" y="2894726"/>
            <a:ext cx="1225296" cy="310896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l Sans MT"/>
              </a:rPr>
              <a:t>App Android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2503" y="3324494"/>
            <a:ext cx="3383280" cy="150876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3D3D3D"/>
                </a:solidFill>
                <a:latin typeface="Gill Sans MT"/>
              </a:rPr>
              <a:t>Scansione BLE</a:t>
            </a:r>
            <a:br/>
            <a:r>
              <a:rPr sz="1500" b="0">
                <a:solidFill>
                  <a:srgbClr val="3D3D3D"/>
                </a:solidFill>
                <a:latin typeface="Gill Sans MT"/>
              </a:rPr>
              <a:t>Visualizza attività</a:t>
            </a:r>
            <a:br/>
            <a:r>
              <a:rPr sz="1500" b="0">
                <a:solidFill>
                  <a:srgbClr val="3D3D3D"/>
                </a:solidFill>
                <a:latin typeface="Gill Sans MT"/>
              </a:rPr>
              <a:t>Compila questionari</a:t>
            </a:r>
          </a:p>
        </p:txBody>
      </p:sp>
      <p:sp>
        <p:nvSpPr>
          <p:cNvPr id="11" name="Oval 10"/>
          <p:cNvSpPr/>
          <p:nvPr/>
        </p:nvSpPr>
        <p:spPr>
          <a:xfrm>
            <a:off x="9543144" y="1696862"/>
            <a:ext cx="758952" cy="758952"/>
          </a:xfrm>
          <a:prstGeom prst="ellipse">
            <a:avLst/>
          </a:prstGeom>
          <a:solidFill>
            <a:srgbClr val="ED8428"/>
          </a:solidFill>
          <a:ln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ill Sans MT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696" y="2528966"/>
            <a:ext cx="33832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3D3D3D"/>
                </a:solidFill>
                <a:latin typeface="Gill Sans MT"/>
              </a:rPr>
              <a:t>CAREGIVER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3688" y="2894726"/>
            <a:ext cx="1225296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l Sans MT"/>
              </a:rPr>
              <a:t>App Android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4696" y="3324494"/>
            <a:ext cx="3383280" cy="150876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3D3D3D"/>
                </a:solidFill>
                <a:latin typeface="Gill Sans MT"/>
              </a:rPr>
              <a:t>Stato sintetico</a:t>
            </a:r>
            <a:br/>
            <a:r>
              <a:rPr sz="1500" b="0">
                <a:solidFill>
                  <a:srgbClr val="3D3D3D"/>
                </a:solidFill>
                <a:latin typeface="Gill Sans MT"/>
              </a:rPr>
              <a:t>Alert autorizzati</a:t>
            </a:r>
            <a:br/>
            <a:r>
              <a:rPr sz="1500" b="0">
                <a:solidFill>
                  <a:srgbClr val="3D3D3D"/>
                </a:solidFill>
                <a:latin typeface="Gill Sans MT"/>
              </a:rPr>
              <a:t>Presa in carico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44" y="5290454"/>
            <a:ext cx="10698480" cy="3840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465359"/>
                </a:solidFill>
                <a:latin typeface="Gill Sans MT"/>
              </a:rPr>
              <a:t>Identità separate: account, paziente e dispositivo sono entità distinte.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ANALISI DEI REQUISITI · VINCOLI DI PROGETTO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4353" y="1867263"/>
            <a:ext cx="3722334" cy="1760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255" y="1986135"/>
            <a:ext cx="2551600" cy="386224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Minima invasività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573" y="2412129"/>
            <a:ext cx="333208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Niente telecamere o microfoni; uso di beacon e dispositivi commerciali.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4833" y="1867263"/>
            <a:ext cx="3722334" cy="1760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63735" y="1986135"/>
            <a:ext cx="2551600" cy="386224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Qualità esplicita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3054" y="2412129"/>
            <a:ext cx="333208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Score, completezza/confidenza ed eventi tecnici devono restare separati.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5313" y="1867263"/>
            <a:ext cx="3722334" cy="1760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38706" y="1986135"/>
            <a:ext cx="2151349" cy="386224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Fault tolerance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534" y="2412129"/>
            <a:ext cx="333208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Elaborazione locale e coda MQTT quando i servizi centrali non sono raggiungibili.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4353" y="3783729"/>
            <a:ext cx="3722334" cy="1760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7746" y="3902601"/>
            <a:ext cx="2151349" cy="386224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Sicurezza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73" y="4314081"/>
            <a:ext cx="333208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TLS, ruoli, autenticazione e gestione separata dei segreti.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4833" y="3783729"/>
            <a:ext cx="3722334" cy="1760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226" y="3902601"/>
            <a:ext cx="2151349" cy="386224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Riproducibilità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3054" y="4314081"/>
            <a:ext cx="333208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Deployment PC + Raspberry con configurazioni e script distinti.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5313" y="3783729"/>
            <a:ext cx="3722334" cy="1760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4215" y="3902601"/>
            <a:ext cx="2551600" cy="386224"/>
          </a:xfrm>
          <a:prstGeom prst="roundRect">
            <a:avLst/>
          </a:prstGeom>
          <a:solidFill>
            <a:srgbClr val="A9C37C"/>
          </a:solidFill>
          <a:ln w="12700"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Interpretabilità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3534" y="4314081"/>
            <a:ext cx="333208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Dashboard con contesto temporale, spiegazioni e origine dei valori.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TECNOLOGIE · HARDWARE E CONNETTIVITÀ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4856" y="2065526"/>
            <a:ext cx="3401568" cy="133502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9447" y="2303270"/>
            <a:ext cx="566928" cy="566928"/>
          </a:xfrm>
          <a:prstGeom prst="ellipse">
            <a:avLst/>
          </a:prstGeom>
          <a:solidFill>
            <a:srgbClr val="465359"/>
          </a:solidFill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0968" y="2284982"/>
            <a:ext cx="221284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Raspberry Pi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0968" y="2632454"/>
            <a:ext cx="2267712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Gill Sans MT"/>
              </a:rPr>
              <a:t>Nodo Edge: receiver BLE, finestre, AI, publisher MQTT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7047" y="2065526"/>
            <a:ext cx="3401568" cy="133502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51639" y="2303270"/>
            <a:ext cx="566928" cy="566928"/>
          </a:xfrm>
          <a:prstGeom prst="ellipse">
            <a:avLst/>
          </a:prstGeom>
          <a:solidFill>
            <a:srgbClr val="5A8071"/>
          </a:solidFill>
          <a:ln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159" y="2284982"/>
            <a:ext cx="221284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Telefono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3159" y="2632454"/>
            <a:ext cx="2267712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 dirty="0">
                <a:solidFill>
                  <a:srgbClr val="3D3D3D"/>
                </a:solidFill>
                <a:latin typeface="Gill Sans MT"/>
              </a:rPr>
              <a:t>Scanner BLE mobile e </a:t>
            </a:r>
            <a:r>
              <a:rPr sz="1250" b="0" i="0" dirty="0" err="1">
                <a:solidFill>
                  <a:srgbClr val="3D3D3D"/>
                </a:solidFill>
                <a:latin typeface="Gill Sans MT"/>
              </a:rPr>
              <a:t>interfaccia</a:t>
            </a:r>
            <a:r>
              <a:rPr sz="1250" b="0" i="0" dirty="0">
                <a:solidFill>
                  <a:srgbClr val="3D3D3D"/>
                </a:solidFill>
                <a:latin typeface="Gill Sans MT"/>
              </a:rPr>
              <a:t> </a:t>
            </a:r>
            <a:r>
              <a:rPr sz="1250" b="0" i="0" dirty="0" err="1">
                <a:solidFill>
                  <a:srgbClr val="3D3D3D"/>
                </a:solidFill>
                <a:latin typeface="Gill Sans MT"/>
              </a:rPr>
              <a:t>paziente</a:t>
            </a:r>
            <a:r>
              <a:rPr sz="1250" b="0" i="0" dirty="0">
                <a:solidFill>
                  <a:srgbClr val="3D3D3D"/>
                </a:solidFill>
                <a:latin typeface="Gill Sans MT"/>
              </a:rPr>
              <a:t>/caregiver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9240" y="2065526"/>
            <a:ext cx="3401568" cy="133502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73832" y="2303270"/>
            <a:ext cx="566928" cy="566928"/>
          </a:xfrm>
          <a:prstGeom prst="ellipse">
            <a:avLst/>
          </a:prstGeom>
          <a:solidFill>
            <a:srgbClr val="ED8428"/>
          </a:solidFill>
          <a:ln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352" y="2284982"/>
            <a:ext cx="221284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2 Beacon 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352" y="2632454"/>
            <a:ext cx="2267712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Gill Sans MT"/>
              </a:rPr>
              <a:t>Demo validata: Cucina e Bagno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4856" y="3894326"/>
            <a:ext cx="3401568" cy="133502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9447" y="4132069"/>
            <a:ext cx="566928" cy="566928"/>
          </a:xfrm>
          <a:prstGeom prst="ellipse">
            <a:avLst/>
          </a:prstGeom>
          <a:solidFill>
            <a:srgbClr val="E6C46D"/>
          </a:solidFill>
          <a:ln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0968" y="4113782"/>
            <a:ext cx="221284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Pixel Watch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0968" y="4461254"/>
            <a:ext cx="2267712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Gill Sans MT"/>
              </a:rPr>
              <a:t>Dati wearable via ecosistema cloud/API autorizzate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7047" y="3894326"/>
            <a:ext cx="3401568" cy="133502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51639" y="4132069"/>
            <a:ext cx="566928" cy="566928"/>
          </a:xfrm>
          <a:prstGeom prst="ellipse">
            <a:avLst/>
          </a:prstGeom>
          <a:solidFill>
            <a:srgbClr val="969FA7"/>
          </a:solidFill>
          <a:ln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3159" y="4113782"/>
            <a:ext cx="221284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3D3D3D"/>
                </a:solidFill>
                <a:latin typeface="Gill Sans MT"/>
              </a:rPr>
              <a:t>PC locale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3159" y="4461254"/>
            <a:ext cx="2267712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Gill Sans MT"/>
              </a:rPr>
              <a:t>Broker, database, backend, worker e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1224" y="3894326"/>
            <a:ext cx="3401568" cy="1335024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465359"/>
                </a:solidFill>
                <a:latin typeface="Gill Sans MT"/>
              </a:rPr>
              <a:t>Rete di demo: PC, Raspberry e telefono sulla stessa 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TECNOLOGIE · SOFTWARE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554480"/>
            <a:ext cx="1993392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483360"/>
            <a:ext cx="1993392" cy="566928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77440"/>
            <a:ext cx="1700784" cy="1508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3D3D3D"/>
                </a:solidFill>
                <a:latin typeface="Gill Sans MT"/>
              </a:rPr>
              <a:t>Python · scikit-learn</a:t>
            </a:r>
            <a:br/>
            <a:r>
              <a:rPr sz="1400" b="1" i="0">
                <a:solidFill>
                  <a:srgbClr val="3D3D3D"/>
                </a:solidFill>
                <a:latin typeface="Gill Sans MT"/>
              </a:rPr>
              <a:t>Isolation Forest · 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1216" y="1554480"/>
            <a:ext cx="1993392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71216" y="1525452"/>
            <a:ext cx="1993392" cy="566928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Gill Sans MT"/>
              </a:rPr>
              <a:t>MESSAGING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377440"/>
            <a:ext cx="1700784" cy="1508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3D3D3D"/>
                </a:solidFill>
                <a:latin typeface="Gill Sans MT"/>
              </a:rPr>
              <a:t>Mosquitto · MQTT/TLS</a:t>
            </a:r>
            <a:br/>
            <a:r>
              <a:rPr sz="1400" b="1" i="0">
                <a:solidFill>
                  <a:srgbClr val="3D3D3D"/>
                </a:solidFill>
                <a:latin typeface="Gill Sans MT"/>
              </a:rPr>
              <a:t>HTTP/REST ·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1554480"/>
            <a:ext cx="1993392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75504" y="1525452"/>
            <a:ext cx="1993392" cy="566928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377440"/>
            <a:ext cx="1700784" cy="1508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3D3D3D"/>
                </a:solidFill>
                <a:latin typeface="Gill Sans MT"/>
              </a:rPr>
              <a:t>FastAPI · PostgreSQL</a:t>
            </a:r>
            <a:br/>
            <a:r>
              <a:rPr sz="1400" b="1" i="0">
                <a:solidFill>
                  <a:srgbClr val="3D3D3D"/>
                </a:solidFill>
                <a:latin typeface="Gill Sans MT"/>
              </a:rPr>
              <a:t>Alembic · WebSocket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1554480"/>
            <a:ext cx="1993392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79792" y="1525452"/>
            <a:ext cx="1993392" cy="566928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2377440"/>
            <a:ext cx="1700784" cy="1508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3D3D3D"/>
                </a:solidFill>
                <a:latin typeface="Gill Sans MT"/>
              </a:rPr>
              <a:t>React · Vite · SVG</a:t>
            </a:r>
            <a:br/>
            <a:r>
              <a:rPr sz="1400" b="1" i="0">
                <a:solidFill>
                  <a:srgbClr val="3D3D3D"/>
                </a:solidFill>
                <a:latin typeface="Gill Sans MT"/>
              </a:rPr>
              <a:t>Android Java/XML · FCM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554480"/>
            <a:ext cx="1993392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84080" y="1525452"/>
            <a:ext cx="1993392" cy="566928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0384" y="2377440"/>
            <a:ext cx="1700784" cy="1508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3D3D3D"/>
                </a:solidFill>
                <a:latin typeface="Gill Sans MT"/>
              </a:rPr>
              <a:t>Docker Compose</a:t>
            </a:r>
            <a:br/>
            <a:r>
              <a:rPr sz="1400" b="1" i="0">
                <a:solidFill>
                  <a:srgbClr val="3D3D3D"/>
                </a:solidFill>
                <a:latin typeface="Gill Sans MT"/>
              </a:rPr>
              <a:t>pytest · npm test/build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983480"/>
            <a:ext cx="1069848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 i="0" dirty="0" err="1">
                <a:solidFill>
                  <a:srgbClr val="465359"/>
                </a:solidFill>
                <a:latin typeface="Gill Sans MT"/>
              </a:rPr>
              <a:t>Scelte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 definitive della </a:t>
            </a:r>
            <a:r>
              <a:rPr sz="1400" b="1" i="0" dirty="0" err="1">
                <a:solidFill>
                  <a:srgbClr val="465359"/>
                </a:solidFill>
                <a:latin typeface="Gill Sans MT"/>
              </a:rPr>
              <a:t>realizzazione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400" b="1" i="0" dirty="0" err="1">
                <a:solidFill>
                  <a:srgbClr val="465359"/>
                </a:solidFill>
                <a:latin typeface="Gill Sans MT"/>
              </a:rPr>
              <a:t>corrente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: PostgreSQL </a:t>
            </a:r>
            <a:r>
              <a:rPr sz="1400" b="1" i="0" dirty="0" err="1">
                <a:solidFill>
                  <a:srgbClr val="465359"/>
                </a:solidFill>
                <a:latin typeface="Gill Sans MT"/>
              </a:rPr>
              <a:t>unico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 DB</a:t>
            </a:r>
            <a:r>
              <a:rPr lang="it-IT" sz="1400" b="1" i="0" dirty="0">
                <a:solidFill>
                  <a:srgbClr val="465359"/>
                </a:solidFill>
                <a:latin typeface="Gill Sans MT"/>
              </a:rPr>
              <a:t>, 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 API REST/JSON </a:t>
            </a:r>
            <a:r>
              <a:rPr sz="1400" b="1" i="0" dirty="0" err="1">
                <a:solidFill>
                  <a:srgbClr val="465359"/>
                </a:solidFill>
                <a:latin typeface="Gill Sans MT"/>
              </a:rPr>
              <a:t>proprie</a:t>
            </a:r>
            <a:r>
              <a:rPr lang="it-IT" sz="1400" b="1" dirty="0">
                <a:solidFill>
                  <a:srgbClr val="465359"/>
                </a:solidFill>
                <a:latin typeface="Gill Sans MT"/>
              </a:rPr>
              <a:t>, 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dashboard React/Vite</a:t>
            </a:r>
            <a:r>
              <a:rPr lang="it-IT" sz="1400" b="1" i="0" dirty="0">
                <a:solidFill>
                  <a:srgbClr val="465359"/>
                </a:solidFill>
                <a:latin typeface="Gill Sans MT"/>
              </a:rPr>
              <a:t>,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 app Android </a:t>
            </a:r>
            <a:r>
              <a:rPr sz="1400" b="1" i="0" dirty="0" err="1">
                <a:solidFill>
                  <a:srgbClr val="465359"/>
                </a:solidFill>
                <a:latin typeface="Gill Sans MT"/>
              </a:rPr>
              <a:t>nativa</a:t>
            </a:r>
            <a:r>
              <a:rPr sz="1400" b="1" i="0" dirty="0">
                <a:solidFill>
                  <a:srgbClr val="465359"/>
                </a:solidFill>
                <a:latin typeface="Gill Sans M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PROPOSTA · ARCHITETTURA ESECUTIVA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22701"/>
            <a:ext cx="1965960" cy="658368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Beacon 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1488" y="1722701"/>
            <a:ext cx="1965960" cy="658368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Telefono Android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722701"/>
            <a:ext cx="1965960" cy="658368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Pixel Watch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96912" y="1722701"/>
            <a:ext cx="1965960" cy="658368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Cloud wearable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2051885"/>
            <a:ext cx="256032" cy="0"/>
          </a:xfrm>
          <a:prstGeom prst="line">
            <a:avLst/>
          </a:prstGeom>
          <a:ln w="254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13448" y="2051885"/>
            <a:ext cx="265176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65960" y="3094301"/>
            <a:ext cx="3657600" cy="1417320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Gill Sans MT"/>
              </a:rPr>
              <a:t>RASPBERRY PI 5</a:t>
            </a:r>
            <a:br>
              <a:rPr dirty="0"/>
            </a:br>
            <a:r>
              <a:rPr sz="1700" b="1" dirty="0">
                <a:solidFill>
                  <a:srgbClr val="FFFFFF"/>
                </a:solidFill>
                <a:latin typeface="Gill Sans MT"/>
              </a:rPr>
              <a:t>Receiver → </a:t>
            </a:r>
            <a:r>
              <a:rPr sz="1700" b="1" dirty="0" err="1">
                <a:solidFill>
                  <a:srgbClr val="FFFFFF"/>
                </a:solidFill>
                <a:latin typeface="Gill Sans MT"/>
              </a:rPr>
              <a:t>finestre</a:t>
            </a:r>
            <a:r>
              <a:rPr sz="1700" b="1" dirty="0">
                <a:solidFill>
                  <a:srgbClr val="FFFFFF"/>
                </a:solidFill>
                <a:latin typeface="Gill Sans MT"/>
              </a:rPr>
              <a:t> → </a:t>
            </a:r>
            <a:r>
              <a:rPr sz="1700" b="1" dirty="0" err="1">
                <a:solidFill>
                  <a:srgbClr val="FFFFFF"/>
                </a:solidFill>
                <a:latin typeface="Gill Sans MT"/>
              </a:rPr>
              <a:t>qualità</a:t>
            </a:r>
            <a:r>
              <a:rPr sz="1700" b="1" dirty="0">
                <a:solidFill>
                  <a:srgbClr val="FFFFFF"/>
                </a:solidFill>
                <a:latin typeface="Gill Sans MT"/>
              </a:rPr>
              <a:t> → AI → </a:t>
            </a:r>
            <a:r>
              <a:rPr sz="1700" b="1" dirty="0" err="1">
                <a:solidFill>
                  <a:srgbClr val="FFFFFF"/>
                </a:solidFill>
                <a:latin typeface="Gill Sans MT"/>
              </a:rPr>
              <a:t>decisione</a:t>
            </a:r>
            <a:endParaRPr sz="1700" b="1" dirty="0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37960" y="2865701"/>
            <a:ext cx="50749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93992" y="3057725"/>
            <a:ext cx="1417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ED8428"/>
                </a:solidFill>
                <a:latin typeface="Gill Sans MT"/>
              </a:rPr>
              <a:t>PC LOCALE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469205"/>
            <a:ext cx="4343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3D3D3D"/>
                </a:solidFill>
                <a:latin typeface="Gill Sans MT"/>
              </a:rPr>
              <a:t>Mosquitto → worker MQTT →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917261"/>
            <a:ext cx="43434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3D3D3D"/>
                </a:solidFill>
                <a:latin typeface="Gill Sans MT"/>
              </a:rPr>
              <a:t>FastAPI REST/WebSocket → Dashboard + Companion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0752" y="2390213"/>
            <a:ext cx="0" cy="685800"/>
          </a:xfrm>
          <a:prstGeom prst="line">
            <a:avLst/>
          </a:prstGeom>
          <a:ln w="25400">
            <a:solidFill>
              <a:srgbClr val="5A8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376672" y="2390213"/>
            <a:ext cx="2834640" cy="704088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23560" y="3789245"/>
            <a:ext cx="886968" cy="0"/>
          </a:xfrm>
          <a:prstGeom prst="line">
            <a:avLst/>
          </a:prstGeom>
          <a:ln w="381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46420" y="3386909"/>
            <a:ext cx="868680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MQTT/TLS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133413"/>
            <a:ext cx="2103120" cy="566928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Dashboard medico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5133413"/>
            <a:ext cx="2103120" cy="566928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App Companion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795085"/>
            <a:ext cx="0" cy="320040"/>
          </a:xfrm>
          <a:prstGeom prst="line">
            <a:avLst/>
          </a:prstGeom>
          <a:ln w="25400">
            <a:solidFill>
              <a:srgbClr val="5A8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59568" y="4795085"/>
            <a:ext cx="0" cy="320040"/>
          </a:xfrm>
          <a:prstGeom prst="line">
            <a:avLst/>
          </a:prstGeom>
          <a:ln w="254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40864" y="5064467"/>
            <a:ext cx="544068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it-IT" sz="1300" i="1" dirty="0">
                <a:solidFill>
                  <a:srgbClr val="465359"/>
                </a:solidFill>
                <a:latin typeface="Gill Sans MT"/>
              </a:rPr>
              <a:t>I</a:t>
            </a:r>
            <a:r>
              <a:rPr sz="1300" b="0" i="1" dirty="0">
                <a:solidFill>
                  <a:srgbClr val="465359"/>
                </a:solidFill>
                <a:latin typeface="Gill Sans MT"/>
              </a:rPr>
              <a:t>l </a:t>
            </a:r>
            <a:r>
              <a:rPr sz="1300" b="0" i="1" dirty="0" err="1">
                <a:solidFill>
                  <a:srgbClr val="465359"/>
                </a:solidFill>
                <a:latin typeface="Gill Sans MT"/>
              </a:rPr>
              <a:t>contenuto</a:t>
            </a:r>
            <a:r>
              <a:rPr sz="1300" b="0" i="1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300" b="0" i="1" dirty="0" err="1">
                <a:solidFill>
                  <a:srgbClr val="465359"/>
                </a:solidFill>
                <a:latin typeface="Gill Sans MT"/>
              </a:rPr>
              <a:t>persistente</a:t>
            </a:r>
            <a:r>
              <a:rPr sz="1300" b="0" i="1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300" b="0" i="1" dirty="0" err="1">
                <a:solidFill>
                  <a:srgbClr val="465359"/>
                </a:solidFill>
                <a:latin typeface="Gill Sans MT"/>
              </a:rPr>
              <a:t>resta</a:t>
            </a:r>
            <a:r>
              <a:rPr sz="1300" b="0" i="1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300" b="0" i="1" dirty="0" err="1">
                <a:solidFill>
                  <a:srgbClr val="465359"/>
                </a:solidFill>
                <a:latin typeface="Gill Sans MT"/>
              </a:rPr>
              <a:t>nel</a:t>
            </a:r>
            <a:r>
              <a:rPr sz="1300" b="0" i="1" dirty="0">
                <a:solidFill>
                  <a:srgbClr val="465359"/>
                </a:solidFill>
                <a:latin typeface="Gill Sans MT"/>
              </a:rPr>
              <a:t>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7CFDC5-53D8-53AA-C43F-44DC088C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93620"/>
            <a:ext cx="11029616" cy="494346"/>
          </a:xfrm>
        </p:spPr>
        <p:txBody>
          <a:bodyPr>
            <a:normAutofit/>
          </a:bodyPr>
          <a:lstStyle/>
          <a:p>
            <a:r>
              <a:rPr lang="it-IT" dirty="0"/>
              <a:t>DASHBOARD MEDICO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48A8413C-E2B4-D8E9-AC22-A5FE7482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768B-B425-2D4D-9C82-FC917DD33DF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7D485F6-9711-EF6D-56DC-DA79C7187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3" y="1448505"/>
            <a:ext cx="10677993" cy="4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3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3EE0B-C49A-0311-E9A2-73271386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D5D8D9-89F7-A1D7-D4DD-8E8B86B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93620"/>
            <a:ext cx="11029616" cy="494346"/>
          </a:xfrm>
        </p:spPr>
        <p:txBody>
          <a:bodyPr>
            <a:normAutofit/>
          </a:bodyPr>
          <a:lstStyle/>
          <a:p>
            <a:r>
              <a:rPr lang="it-IT" dirty="0"/>
              <a:t>DASHBOARD Paziente e Caregiver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0ED73A9-3831-3EB8-38DA-F707ACCD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768B-B425-2D4D-9C82-FC917DD33DF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B1CCC11-4D54-9599-961A-40249FE6C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564" y="1369345"/>
            <a:ext cx="2483290" cy="506955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AC15D75-3145-D110-8F73-F5D88CFDA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51" y="1369345"/>
            <a:ext cx="2394443" cy="488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52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DETTAGLI · PIPELINE EDGE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02336" y="2075688"/>
            <a:ext cx="1042415" cy="310896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BLE · wearable</a:t>
            </a:r>
            <a:br/>
            <a:r>
              <a:rPr sz="1150" b="1" i="0">
                <a:solidFill>
                  <a:srgbClr val="3D3D3D"/>
                </a:solidFill>
                <a:latin typeface="Gill Sans MT"/>
              </a:rPr>
              <a:t>CSV opzionali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3619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7393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65376" y="2075688"/>
            <a:ext cx="1042415" cy="310896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FINESTRA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4 minuti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3697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28416" y="2075688"/>
            <a:ext cx="1042415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22 feature</a:t>
            </a:r>
            <a:br/>
            <a:r>
              <a:rPr sz="1150" b="1" i="0">
                <a:solidFill>
                  <a:srgbClr val="3D3D3D"/>
                </a:solidFill>
                <a:latin typeface="Gill Sans MT"/>
              </a:rPr>
              <a:t>comuni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6227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0001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91456" y="2075688"/>
            <a:ext cx="1042415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gate training</a:t>
            </a:r>
            <a:br/>
            <a:r>
              <a:rPr sz="1150" b="1" i="0">
                <a:solidFill>
                  <a:srgbClr val="3D3D3D"/>
                </a:solidFill>
                <a:latin typeface="Gill Sans MT"/>
              </a:rPr>
              <a:t>+ completezza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2531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6305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54496" y="2075688"/>
            <a:ext cx="1042415" cy="310896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3 Isolation</a:t>
            </a:r>
            <a:br/>
            <a:r>
              <a:rPr sz="1150" b="1" i="0">
                <a:solidFill>
                  <a:srgbClr val="3D3D3D"/>
                </a:solidFill>
                <a:latin typeface="Gill Sans MT"/>
              </a:rPr>
              <a:t>Forest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8835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2609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17536" y="2075688"/>
            <a:ext cx="1042415" cy="310896"/>
          </a:xfrm>
          <a:prstGeom prst="roundRect">
            <a:avLst/>
          </a:prstGeom>
          <a:solidFill>
            <a:srgbClr val="A9C37C"/>
          </a:solidFill>
          <a:ln w="12700"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score 0–100</a:t>
            </a:r>
            <a:br/>
            <a:r>
              <a:rPr sz="1150" b="1" i="0">
                <a:solidFill>
                  <a:srgbClr val="3D3D3D"/>
                </a:solidFill>
                <a:latin typeface="Gill Sans MT"/>
              </a:rPr>
              <a:t>+ confidence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5139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80576" y="2075688"/>
            <a:ext cx="1042415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DEBOUNCE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storia 48 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14432" y="2660904"/>
            <a:ext cx="219456" cy="0"/>
          </a:xfrm>
          <a:prstGeom prst="line">
            <a:avLst/>
          </a:prstGeom>
          <a:ln w="1778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552176" y="1938528"/>
            <a:ext cx="1225296" cy="14447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643616" y="2075688"/>
            <a:ext cx="1042415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Gill Sans MT"/>
              </a:rPr>
              <a:t>PUBLISH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3616" y="2615184"/>
            <a:ext cx="1042415" cy="5852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3D3D3D"/>
                </a:solidFill>
                <a:latin typeface="Gill Sans MT"/>
              </a:rPr>
              <a:t>MQTT + coda</a:t>
            </a:r>
            <a:br/>
            <a:r>
              <a:rPr sz="1150" b="1" i="0">
                <a:solidFill>
                  <a:srgbClr val="3D3D3D"/>
                </a:solidFill>
                <a:latin typeface="Gill Sans MT"/>
              </a:rPr>
              <a:t>locale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77639"/>
            <a:ext cx="5166360" cy="987552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0">
                <a:solidFill>
                  <a:srgbClr val="3D3D3D"/>
                </a:solidFill>
                <a:latin typeface="Gill Sans MT"/>
              </a:rPr>
              <a:t>La finestra conserva timestamp, qualità e provenienza: un dato ricevuto oggi può descrivere una finestra precedente.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977639"/>
            <a:ext cx="5166360" cy="987552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3D3D3D"/>
                </a:solidFill>
                <a:latin typeface="Gill Sans MT"/>
              </a:rPr>
              <a:t>Lo score è un indice relativo alla baseline/modello. Non è una probabilità di malattia.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DETTAGLI · LOCALIZZAZIONE E WEARABLE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44752"/>
            <a:ext cx="525780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2560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ED8428"/>
                </a:solidFill>
                <a:latin typeface="Gill Sans MT"/>
              </a:rPr>
              <a:t>LOCALIZZAZIONE 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325880" cy="621792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Beacon fissi</a:t>
            </a:r>
            <a:br/>
            <a:r>
              <a:rPr sz="1200" b="1">
                <a:solidFill>
                  <a:srgbClr val="FFFFFF"/>
                </a:solidFill>
                <a:latin typeface="Gill Sans MT"/>
              </a:rPr>
              <a:t>Cucina / Bagno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40280"/>
            <a:ext cx="1600200" cy="621792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Telefono</a:t>
            </a:r>
            <a:br/>
            <a:r>
              <a:rPr sz="1200" b="1">
                <a:solidFill>
                  <a:srgbClr val="FFFFFF"/>
                </a:solidFill>
                <a:latin typeface="Gill Sans MT"/>
              </a:rPr>
              <a:t>scanner 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240280"/>
            <a:ext cx="1005840" cy="621792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HTTP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551176"/>
            <a:ext cx="484632" cy="0"/>
          </a:xfrm>
          <a:prstGeom prst="line">
            <a:avLst/>
          </a:prstGeom>
          <a:ln w="254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52544" y="2551176"/>
            <a:ext cx="292608" cy="0"/>
          </a:xfrm>
          <a:prstGeom prst="line">
            <a:avLst/>
          </a:prstGeom>
          <a:ln w="25400">
            <a:solidFill>
              <a:srgbClr val="5A8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200400"/>
            <a:ext cx="46177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• invio ogni ~15 s</a:t>
            </a:r>
            <a:br/>
            <a:r>
              <a:rPr sz="1300" b="0" i="0">
                <a:solidFill>
                  <a:srgbClr val="3D3D3D"/>
                </a:solidFill>
                <a:latin typeface="Gill Sans MT"/>
              </a:rPr>
              <a:t>• osservazioni &gt;45 s non attuali</a:t>
            </a:r>
            <a:br/>
            <a:r>
              <a:rPr sz="1300" b="0" i="0">
                <a:solidFill>
                  <a:srgbClr val="3D3D3D"/>
                </a:solidFill>
                <a:latin typeface="Gill Sans MT"/>
              </a:rPr>
              <a:t>• Edge raggruppa ~30 s</a:t>
            </a:r>
            <a:br/>
            <a:r>
              <a:rPr sz="1300" b="0" i="0">
                <a:solidFill>
                  <a:srgbClr val="3D3D3D"/>
                </a:solidFill>
                <a:latin typeface="Gill Sans MT"/>
              </a:rPr>
              <a:t>• permanenze, cambi stanza, massimo continuo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444752"/>
            <a:ext cx="525780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645920"/>
            <a:ext cx="2560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E6C46D"/>
                </a:solidFill>
                <a:latin typeface="Gill Sans MT"/>
              </a:rPr>
              <a:t>DATI WEARABLE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38544" y="2240280"/>
            <a:ext cx="1417320" cy="621792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3D3D3D"/>
                </a:solidFill>
                <a:latin typeface="Gill Sans MT"/>
              </a:rPr>
              <a:t>Pixel Watch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8" y="2240280"/>
            <a:ext cx="1417320" cy="621792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Cloud /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22992" y="2240280"/>
            <a:ext cx="1005840" cy="621792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ill Sans MT"/>
              </a:rPr>
              <a:t>Edge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65008" y="2551176"/>
            <a:ext cx="347472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57232" y="2551176"/>
            <a:ext cx="347472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38544" y="3200400"/>
            <a:ext cx="46177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• percorso Device → Cloud → Edge</a:t>
            </a:r>
            <a:br/>
            <a:r>
              <a:rPr sz="1300" b="0" i="0">
                <a:solidFill>
                  <a:srgbClr val="3D3D3D"/>
                </a:solidFill>
                <a:latin typeface="Gill Sans MT"/>
              </a:rPr>
              <a:t>• OAuth/token autorizzati</a:t>
            </a:r>
            <a:br/>
            <a:r>
              <a:rPr sz="1300" b="0" i="0">
                <a:solidFill>
                  <a:srgbClr val="3D3D3D"/>
                </a:solidFill>
                <a:latin typeface="Gill Sans MT"/>
              </a:rPr>
              <a:t>• freschezza diversa per ogni metrica</a:t>
            </a:r>
            <a:br/>
            <a:r>
              <a:rPr sz="1300" b="0" i="0">
                <a:solidFill>
                  <a:srgbClr val="3D3D3D"/>
                </a:solidFill>
                <a:latin typeface="Gill Sans MT"/>
              </a:rPr>
              <a:t>• Shelly/NILM e fall detection: predisposti, non completi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DETTAGLI · INTELLIGENZA ARTIFICIALE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78308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2104" y="1938528"/>
            <a:ext cx="2039112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generic_spatial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9659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3D3D3D"/>
                </a:solidFill>
                <a:latin typeface="Gill Sans MT"/>
              </a:rPr>
              <a:t>Routine</a:t>
            </a:r>
            <a:br/>
            <a:r>
              <a:rPr sz="1600" b="1" i="0">
                <a:solidFill>
                  <a:srgbClr val="3D3D3D"/>
                </a:solidFill>
                <a:latin typeface="Gill Sans MT"/>
              </a:rPr>
              <a:t>spaziale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82112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969FA7"/>
                </a:solidFill>
                <a:latin typeface="Gill Sans MT"/>
              </a:rPr>
              <a:t>peso iniziale 15%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4952" y="2743200"/>
            <a:ext cx="338328" cy="0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78308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21024" y="1938528"/>
            <a:ext cx="2039112" cy="310896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generic_wearable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19659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3D3D3D"/>
                </a:solidFill>
                <a:latin typeface="Gill Sans MT"/>
              </a:rPr>
              <a:t>Fisiologia +</a:t>
            </a:r>
            <a:br/>
            <a:r>
              <a:rPr sz="1600" b="1" i="0">
                <a:solidFill>
                  <a:srgbClr val="3D3D3D"/>
                </a:solidFill>
                <a:latin typeface="Gill Sans MT"/>
              </a:rPr>
              <a:t>attività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82112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969FA7"/>
                </a:solidFill>
                <a:latin typeface="Gill Sans MT"/>
              </a:rPr>
              <a:t>peso iniziale 15%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3872" y="2743200"/>
            <a:ext cx="338328" cy="0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78308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9944" y="1938528"/>
            <a:ext cx="2039112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personal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19659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3D3D3D"/>
                </a:solidFill>
                <a:latin typeface="Gill Sans MT"/>
              </a:rPr>
              <a:t>Baseline</a:t>
            </a:r>
            <a:br/>
            <a:r>
              <a:rPr sz="1600" b="1" i="0">
                <a:solidFill>
                  <a:srgbClr val="3D3D3D"/>
                </a:solidFill>
                <a:latin typeface="Gill Sans MT"/>
              </a:rPr>
              <a:t>del paziente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82112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969FA7"/>
                </a:solidFill>
                <a:latin typeface="Gill Sans MT"/>
              </a:rPr>
              <a:t>peso iniziale 70%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783080"/>
            <a:ext cx="2331720" cy="1920240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3D3D3D"/>
                </a:solidFill>
                <a:latin typeface="Gill Sans MT"/>
              </a:rPr>
              <a:t>FUSIONE</a:t>
            </a:r>
            <a:br>
              <a:rPr dirty="0"/>
            </a:br>
            <a:r>
              <a:rPr sz="1600" b="1" dirty="0">
                <a:solidFill>
                  <a:srgbClr val="3D3D3D"/>
                </a:solidFill>
                <a:latin typeface="Gill Sans MT"/>
              </a:rPr>
              <a:t>media </a:t>
            </a:r>
            <a:r>
              <a:rPr sz="1600" b="1" dirty="0" err="1">
                <a:solidFill>
                  <a:srgbClr val="3D3D3D"/>
                </a:solidFill>
                <a:latin typeface="Gill Sans MT"/>
              </a:rPr>
              <a:t>pesata</a:t>
            </a:r>
            <a:r>
              <a:rPr sz="1600" b="1" dirty="0">
                <a:solidFill>
                  <a:srgbClr val="3D3D3D"/>
                </a:solidFill>
                <a:latin typeface="Gill Sans MT"/>
              </a:rPr>
              <a:t> + </a:t>
            </a:r>
            <a:r>
              <a:rPr sz="1600" b="1" dirty="0" err="1">
                <a:solidFill>
                  <a:srgbClr val="3D3D3D"/>
                </a:solidFill>
                <a:latin typeface="Gill Sans MT"/>
              </a:rPr>
              <a:t>conferme</a:t>
            </a:r>
            <a:br>
              <a:rPr dirty="0"/>
            </a:br>
            <a:r>
              <a:rPr sz="1600" b="1" dirty="0">
                <a:solidFill>
                  <a:srgbClr val="3D3D3D"/>
                </a:solidFill>
                <a:latin typeface="Gill Sans MT"/>
              </a:rPr>
              <a:t>→ score 0–100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8200" y="2743200"/>
            <a:ext cx="612648" cy="0"/>
          </a:xfrm>
          <a:prstGeom prst="line">
            <a:avLst/>
          </a:prstGeom>
          <a:ln w="254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20624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ED8428"/>
                </a:solidFill>
                <a:latin typeface="Gill Sans MT"/>
              </a:rPr>
              <a:t>DEBOUNCE OPERATIVO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590288"/>
            <a:ext cx="1828800" cy="640080"/>
          </a:xfrm>
          <a:prstGeom prst="rect">
            <a:avLst/>
          </a:prstGeom>
          <a:solidFill>
            <a:srgbClr val="A9C37C"/>
          </a:solidFill>
          <a:ln w="12700"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3D3D3D"/>
                </a:solidFill>
                <a:latin typeface="Gill Sans MT"/>
              </a:rPr>
              <a:t>0–34</a:t>
            </a:r>
            <a:br/>
            <a:r>
              <a:rPr sz="1100" b="1">
                <a:solidFill>
                  <a:srgbClr val="3D3D3D"/>
                </a:solidFill>
                <a:latin typeface="Gill Sans MT"/>
              </a:rPr>
              <a:t>normale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4590288"/>
            <a:ext cx="2148840" cy="640080"/>
          </a:xfrm>
          <a:prstGeom prst="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3D3D3D"/>
                </a:solidFill>
                <a:latin typeface="Gill Sans MT"/>
              </a:rPr>
              <a:t>35–64</a:t>
            </a:r>
            <a:br/>
            <a:r>
              <a:rPr sz="1100" b="1">
                <a:solidFill>
                  <a:srgbClr val="3D3D3D"/>
                </a:solidFill>
                <a:latin typeface="Gill Sans MT"/>
              </a:rPr>
              <a:t>attenzione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4590288"/>
            <a:ext cx="1234440" cy="640080"/>
          </a:xfrm>
          <a:prstGeom prst="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l Sans MT"/>
              </a:rPr>
              <a:t>65–79</a:t>
            </a:r>
            <a:br/>
            <a:r>
              <a:rPr sz="1100" b="1">
                <a:solidFill>
                  <a:srgbClr val="FFFFFF"/>
                </a:solidFill>
                <a:latin typeface="Gill Sans MT"/>
              </a:rPr>
              <a:t>arancione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4590288"/>
            <a:ext cx="1600200" cy="640080"/>
          </a:xfrm>
          <a:prstGeom prst="rect">
            <a:avLst/>
          </a:prstGeom>
          <a:solidFill>
            <a:srgbClr val="C8584D"/>
          </a:solidFill>
          <a:ln w="12700">
            <a:solidFill>
              <a:srgbClr val="C85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l Sans MT"/>
              </a:rPr>
              <a:t>80–100</a:t>
            </a:r>
            <a:br/>
            <a:r>
              <a:rPr sz="1100" b="1">
                <a:solidFill>
                  <a:srgbClr val="FFFFFF"/>
                </a:solidFill>
                <a:latin typeface="Gill Sans MT"/>
              </a:rPr>
              <a:t>rosso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206240"/>
            <a:ext cx="3337560" cy="1024128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465359"/>
                </a:solidFill>
                <a:latin typeface="Gill Sans MT"/>
              </a:rPr>
              <a:t>Confidence separata: qualità/completezza del contesto, non probabilità che il modello “abbia ragione”.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DETTAGLI · BACKEND, PERSISTENZA E REALTIME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2148840"/>
            <a:ext cx="1874519" cy="658368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MQTT/TLS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06624" y="2148840"/>
            <a:ext cx="2011680" cy="658368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Gill Sans MT"/>
              </a:rPr>
              <a:t>Mosquitto</a:t>
            </a:r>
            <a:endParaRPr sz="1500" b="1" dirty="0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0056" y="2148840"/>
            <a:ext cx="2148840" cy="658368"/>
          </a:xfrm>
          <a:prstGeom prst="roundRect">
            <a:avLst/>
          </a:prstGeom>
          <a:solidFill>
            <a:srgbClr val="969FA7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Worker MQTT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504" y="2148840"/>
            <a:ext cx="1965960" cy="658368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0072" y="2148840"/>
            <a:ext cx="1755648" cy="658368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FastAPI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32304" y="2478023"/>
            <a:ext cx="256032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18304" y="2478023"/>
            <a:ext cx="283464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68896" y="2478023"/>
            <a:ext cx="274320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27464" y="2478023"/>
            <a:ext cx="274320" cy="0"/>
          </a:xfrm>
          <a:prstGeom prst="line">
            <a:avLst/>
          </a:prstGeom>
          <a:ln w="2540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61504" y="2944368"/>
            <a:ext cx="19659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969FA7"/>
                </a:solidFill>
                <a:latin typeface="Gill Sans MT"/>
              </a:rPr>
              <a:t>Persistenza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3886200"/>
            <a:ext cx="1783080" cy="640080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3886200"/>
            <a:ext cx="1783080" cy="640080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Companion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403336" y="2816352"/>
            <a:ext cx="2167128" cy="1051560"/>
          </a:xfrm>
          <a:prstGeom prst="line">
            <a:avLst/>
          </a:prstGeom>
          <a:ln w="25400">
            <a:solidFill>
              <a:srgbClr val="5A8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506456" y="2816352"/>
            <a:ext cx="109728" cy="1051560"/>
          </a:xfrm>
          <a:prstGeom prst="line">
            <a:avLst/>
          </a:prstGeom>
          <a:ln w="2540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75904" y="4736592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465359"/>
                </a:solidFill>
                <a:latin typeface="Gill Sans MT"/>
              </a:rPr>
              <a:t>REST + WebSocket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730752"/>
            <a:ext cx="5989320" cy="1417320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969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3D3D3D"/>
                </a:solidFill>
                <a:latin typeface="Gill Sans MT"/>
              </a:rPr>
              <a:t>Principio di </a:t>
            </a:r>
            <a:r>
              <a:rPr sz="1500" b="1" dirty="0" err="1">
                <a:solidFill>
                  <a:srgbClr val="3D3D3D"/>
                </a:solidFill>
                <a:latin typeface="Gill Sans MT"/>
              </a:rPr>
              <a:t>disaccoppiamento</a:t>
            </a:r>
            <a:br>
              <a:rPr dirty="0"/>
            </a:br>
            <a:r>
              <a:rPr sz="1500" b="1" dirty="0">
                <a:solidFill>
                  <a:srgbClr val="3D3D3D"/>
                </a:solidFill>
                <a:latin typeface="Gill Sans MT"/>
              </a:rPr>
              <a:t>Il browser non </a:t>
            </a:r>
            <a:r>
              <a:rPr sz="1500" b="1" dirty="0" err="1">
                <a:solidFill>
                  <a:srgbClr val="3D3D3D"/>
                </a:solidFill>
                <a:latin typeface="Gill Sans MT"/>
              </a:rPr>
              <a:t>sottoscrive</a:t>
            </a:r>
            <a:r>
              <a:rPr sz="1500" b="1" dirty="0">
                <a:solidFill>
                  <a:srgbClr val="3D3D3D"/>
                </a:solidFill>
                <a:latin typeface="Gill Sans MT"/>
              </a:rPr>
              <a:t> </a:t>
            </a:r>
            <a:r>
              <a:rPr sz="1500" b="1" dirty="0" err="1">
                <a:solidFill>
                  <a:srgbClr val="3D3D3D"/>
                </a:solidFill>
                <a:latin typeface="Gill Sans MT"/>
              </a:rPr>
              <a:t>direttamente</a:t>
            </a:r>
            <a:r>
              <a:rPr sz="1500" b="1" dirty="0">
                <a:solidFill>
                  <a:srgbClr val="3D3D3D"/>
                </a:solidFill>
                <a:latin typeface="Gill Sans MT"/>
              </a:rPr>
              <a:t> MQTT. Firebase non è il database </a:t>
            </a:r>
            <a:r>
              <a:rPr sz="1500" b="1" dirty="0" err="1">
                <a:solidFill>
                  <a:srgbClr val="3D3D3D"/>
                </a:solidFill>
                <a:latin typeface="Gill Sans MT"/>
              </a:rPr>
              <a:t>dei</a:t>
            </a:r>
            <a:r>
              <a:rPr sz="1500" b="1" dirty="0">
                <a:solidFill>
                  <a:srgbClr val="3D3D3D"/>
                </a:solidFill>
                <a:latin typeface="Gill Sans MT"/>
              </a:rPr>
              <a:t> task: la push </a:t>
            </a:r>
            <a:r>
              <a:rPr sz="1500" b="1" dirty="0" err="1">
                <a:solidFill>
                  <a:srgbClr val="3D3D3D"/>
                </a:solidFill>
                <a:latin typeface="Gill Sans MT"/>
              </a:rPr>
              <a:t>notifica</a:t>
            </a:r>
            <a:r>
              <a:rPr sz="1500" b="1" dirty="0">
                <a:solidFill>
                  <a:srgbClr val="3D3D3D"/>
                </a:solidFill>
                <a:latin typeface="Gill Sans MT"/>
              </a:rPr>
              <a:t>, il backend </a:t>
            </a:r>
            <a:r>
              <a:rPr sz="1500" b="1" dirty="0" err="1">
                <a:solidFill>
                  <a:srgbClr val="3D3D3D"/>
                </a:solidFill>
                <a:latin typeface="Gill Sans MT"/>
              </a:rPr>
              <a:t>conserva</a:t>
            </a:r>
            <a:r>
              <a:rPr sz="1500" b="1" dirty="0">
                <a:solidFill>
                  <a:srgbClr val="3D3D3D"/>
                </a:solidFill>
                <a:latin typeface="Gill Sans MT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DETTAGLI · WORKFLOW OPERATIVO</a:t>
            </a:r>
          </a:p>
        </p:txBody>
      </p:sp>
      <p:sp>
        <p:nvSpPr>
          <p:cNvPr id="3" name="Oval 2"/>
          <p:cNvSpPr/>
          <p:nvPr/>
        </p:nvSpPr>
        <p:spPr>
          <a:xfrm>
            <a:off x="1069848" y="1901952"/>
            <a:ext cx="530352" cy="530352"/>
          </a:xfrm>
          <a:prstGeom prst="ellipse">
            <a:avLst/>
          </a:prstGeom>
          <a:solidFill>
            <a:srgbClr val="465359"/>
          </a:solidFill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596896"/>
            <a:ext cx="18745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3D3D3D"/>
                </a:solidFill>
                <a:latin typeface="Gill Sans MT"/>
              </a:rPr>
              <a:t>Medico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80944"/>
            <a:ext cx="1874519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 i="0">
                <a:solidFill>
                  <a:srgbClr val="3D3D3D"/>
                </a:solidFill>
                <a:latin typeface="Gill Sans MT"/>
              </a:rPr>
              <a:t>assegna task / messaggio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3432" y="2231136"/>
            <a:ext cx="365760" cy="0"/>
          </a:xfrm>
          <a:prstGeom prst="line">
            <a:avLst/>
          </a:prstGeom>
          <a:ln w="2286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401568" y="1901952"/>
            <a:ext cx="530352" cy="530352"/>
          </a:xfrm>
          <a:prstGeom prst="ellipse">
            <a:avLst/>
          </a:prstGeom>
          <a:solidFill>
            <a:srgbClr val="5A8071"/>
          </a:solidFill>
          <a:ln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96896"/>
            <a:ext cx="18745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3D3D3D"/>
                </a:solidFill>
                <a:latin typeface="Gill Sans MT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80944"/>
            <a:ext cx="1874519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 i="0">
                <a:solidFill>
                  <a:srgbClr val="3D3D3D"/>
                </a:solidFill>
                <a:latin typeface="Gill Sans MT"/>
              </a:rPr>
              <a:t>salva + invia push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45152" y="2231136"/>
            <a:ext cx="365760" cy="0"/>
          </a:xfrm>
          <a:prstGeom prst="line">
            <a:avLst/>
          </a:prstGeom>
          <a:ln w="2286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733288" y="1901952"/>
            <a:ext cx="530352" cy="530352"/>
          </a:xfrm>
          <a:prstGeom prst="ellipse">
            <a:avLst/>
          </a:prstGeom>
          <a:solidFill>
            <a:srgbClr val="ED8428"/>
          </a:solidFill>
          <a:ln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596896"/>
            <a:ext cx="18745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3D3D3D"/>
                </a:solidFill>
                <a:latin typeface="Gill Sans MT"/>
              </a:rPr>
              <a:t>Telefono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980944"/>
            <a:ext cx="1874519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 i="0">
                <a:solidFill>
                  <a:srgbClr val="3D3D3D"/>
                </a:solidFill>
                <a:latin typeface="Gill Sans MT"/>
              </a:rPr>
              <a:t>notifica + contenuto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76872" y="2231136"/>
            <a:ext cx="365759" cy="0"/>
          </a:xfrm>
          <a:prstGeom prst="line">
            <a:avLst/>
          </a:prstGeom>
          <a:ln w="2286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65008" y="1901952"/>
            <a:ext cx="530352" cy="530352"/>
          </a:xfrm>
          <a:prstGeom prst="ellipse">
            <a:avLst/>
          </a:prstGeom>
          <a:solidFill>
            <a:srgbClr val="E6C46D"/>
          </a:solidFill>
          <a:ln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596896"/>
            <a:ext cx="18745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3D3D3D"/>
                </a:solidFill>
                <a:latin typeface="Gill Sans MT"/>
              </a:rPr>
              <a:t>Paziente / Caregiver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980944"/>
            <a:ext cx="1874519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 i="0">
                <a:solidFill>
                  <a:srgbClr val="3D3D3D"/>
                </a:solidFill>
                <a:latin typeface="Gill Sans MT"/>
              </a:rPr>
              <a:t>compila o prende in carico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08592" y="2231136"/>
            <a:ext cx="365760" cy="0"/>
          </a:xfrm>
          <a:prstGeom prst="line">
            <a:avLst/>
          </a:prstGeom>
          <a:ln w="2286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396728" y="1901952"/>
            <a:ext cx="530352" cy="530352"/>
          </a:xfrm>
          <a:prstGeom prst="ellipse">
            <a:avLst/>
          </a:prstGeom>
          <a:solidFill>
            <a:srgbClr val="465359"/>
          </a:solidFill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ill Sans M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96896"/>
            <a:ext cx="18745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3D3D3D"/>
                </a:solidFill>
                <a:latin typeface="Gill Sans MT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2980944"/>
            <a:ext cx="1874519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 i="0">
                <a:solidFill>
                  <a:srgbClr val="3D3D3D"/>
                </a:solidFill>
                <a:latin typeface="Gill Sans MT"/>
              </a:rPr>
              <a:t>aggiornamento realtime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23944"/>
            <a:ext cx="3218688" cy="1078992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3D3D3D"/>
                </a:solidFill>
                <a:latin typeface="Gill Sans MT"/>
              </a:rPr>
              <a:t>Paziente</a:t>
            </a:r>
            <a:br/>
            <a:r>
              <a:rPr sz="1500" b="1">
                <a:solidFill>
                  <a:srgbClr val="3D3D3D"/>
                </a:solidFill>
                <a:latin typeface="Gill Sans MT"/>
              </a:rPr>
              <a:t>attività, questionari, propri dati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123944"/>
            <a:ext cx="3218688" cy="1078992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3D3D3D"/>
                </a:solidFill>
                <a:latin typeface="Gill Sans MT"/>
              </a:rPr>
              <a:t>Caregiver</a:t>
            </a:r>
            <a:br/>
            <a:r>
              <a:rPr sz="1500" b="1">
                <a:solidFill>
                  <a:srgbClr val="3D3D3D"/>
                </a:solidFill>
                <a:latin typeface="Gill Sans MT"/>
              </a:rPr>
              <a:t>stato sintetico, alert autorizzati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123944"/>
            <a:ext cx="3218688" cy="1078992"/>
          </a:xfrm>
          <a:prstGeom prst="roundRect">
            <a:avLst/>
          </a:prstGeom>
          <a:solidFill>
            <a:srgbClr val="EBEBEB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3D3D3D"/>
                </a:solidFill>
                <a:latin typeface="Gill Sans MT"/>
              </a:rPr>
              <a:t>Medico</a:t>
            </a:r>
            <a:br/>
            <a:r>
              <a:rPr sz="1500" b="1">
                <a:solidFill>
                  <a:srgbClr val="3D3D3D"/>
                </a:solidFill>
                <a:latin typeface="Gill Sans MT"/>
              </a:rPr>
              <a:t>trend, timeline, routine, spiegazioni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VALIDAZIONE · COSA VIENE TESTATO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4069080"/>
            <a:ext cx="10241280" cy="713232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Test di integrazione  ·  Broker + DB reali, script demo, percorso messaggi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3136392"/>
            <a:ext cx="8412480" cy="713232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Test applicativi  ·  Backend: auth, MQTT, realtime, alert, report · Edge: ingestione, fusione, debounce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194560"/>
            <a:ext cx="6492240" cy="713232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Test statici / build  ·  Frontend: smoke test sorgenti + npm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520" y="1508760"/>
            <a:ext cx="9966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 dirty="0">
                <a:solidFill>
                  <a:srgbClr val="465359"/>
                </a:solidFill>
                <a:latin typeface="Gill Sans MT"/>
              </a:rPr>
              <a:t>Un test </a:t>
            </a:r>
            <a:r>
              <a:rPr sz="2000" b="1" i="0" dirty="0" err="1">
                <a:solidFill>
                  <a:srgbClr val="465359"/>
                </a:solidFill>
                <a:latin typeface="Gill Sans MT"/>
              </a:rPr>
              <a:t>unitario</a:t>
            </a:r>
            <a:r>
              <a:rPr sz="20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2000" b="1" i="0" dirty="0" err="1">
                <a:solidFill>
                  <a:srgbClr val="465359"/>
                </a:solidFill>
                <a:latin typeface="Gill Sans MT"/>
              </a:rPr>
              <a:t>positivo</a:t>
            </a:r>
            <a:r>
              <a:rPr sz="2000" b="1" i="0" dirty="0">
                <a:solidFill>
                  <a:srgbClr val="465359"/>
                </a:solidFill>
                <a:latin typeface="Gill Sans MT"/>
              </a:rPr>
              <a:t> ≠ </a:t>
            </a:r>
            <a:r>
              <a:rPr sz="2000" b="1" i="0" dirty="0" err="1">
                <a:solidFill>
                  <a:srgbClr val="465359"/>
                </a:solidFill>
                <a:latin typeface="Gill Sans MT"/>
              </a:rPr>
              <a:t>collaudo</a:t>
            </a:r>
            <a:r>
              <a:rPr sz="2000" b="1" i="0" dirty="0">
                <a:solidFill>
                  <a:srgbClr val="465359"/>
                </a:solidFill>
                <a:latin typeface="Gill Sans MT"/>
              </a:rPr>
              <a:t> della </a:t>
            </a:r>
            <a:r>
              <a:rPr sz="2000" b="1" i="0" dirty="0" err="1">
                <a:solidFill>
                  <a:srgbClr val="465359"/>
                </a:solidFill>
                <a:latin typeface="Gill Sans MT"/>
              </a:rPr>
              <a:t>topologia</a:t>
            </a:r>
            <a:r>
              <a:rPr sz="20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2000" b="1" i="0" dirty="0" err="1">
                <a:solidFill>
                  <a:srgbClr val="465359"/>
                </a:solidFill>
                <a:latin typeface="Gill Sans MT"/>
              </a:rPr>
              <a:t>fisica</a:t>
            </a:r>
            <a:r>
              <a:rPr sz="2000" b="1" i="0" dirty="0">
                <a:solidFill>
                  <a:srgbClr val="465359"/>
                </a:solidFill>
                <a:latin typeface="Gill Sans MT"/>
              </a:rPr>
              <a:t> PC–Raspberry–</a:t>
            </a:r>
            <a:r>
              <a:rPr sz="2000" b="1" i="0" dirty="0" err="1">
                <a:solidFill>
                  <a:srgbClr val="465359"/>
                </a:solidFill>
                <a:latin typeface="Gill Sans MT"/>
              </a:rPr>
              <a:t>telefono</a:t>
            </a:r>
            <a:r>
              <a:rPr sz="2000" b="1" i="0" dirty="0">
                <a:solidFill>
                  <a:srgbClr val="465359"/>
                </a:solidFill>
                <a:latin typeface="Gill Sans M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074920"/>
            <a:ext cx="9966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3D3D3D"/>
                </a:solidFill>
                <a:latin typeface="Gill Sans MT"/>
              </a:rPr>
              <a:t>Restano necessarie prove visuali/interattive, Android su dispositivo fisico, PostgreSQL reale, certificati e provider push.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VALIDAZIONE · CASO D’USO DEMO: DUE STANZE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801368"/>
            <a:ext cx="2331720" cy="1005840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ill Sans MT"/>
              </a:rPr>
              <a:t>CUCINA</a:t>
            </a:r>
            <a:br/>
            <a:r>
              <a:rPr sz="1800" b="1">
                <a:solidFill>
                  <a:srgbClr val="FFFFFF"/>
                </a:solidFill>
                <a:latin typeface="Gill Sans MT"/>
              </a:rPr>
              <a:t>Beacon valido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19472" y="1801368"/>
            <a:ext cx="2331720" cy="1005840"/>
          </a:xfrm>
          <a:prstGeom prst="roundRect">
            <a:avLst/>
          </a:prstGeom>
          <a:solidFill>
            <a:srgbClr val="5A8071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ill Sans MT"/>
              </a:rPr>
              <a:t>TELEFONO</a:t>
            </a:r>
            <a:br/>
            <a:r>
              <a:rPr sz="1800" b="1">
                <a:solidFill>
                  <a:srgbClr val="FFFFFF"/>
                </a:solidFill>
                <a:latin typeface="Gill Sans MT"/>
              </a:rPr>
              <a:t>scanner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25712" y="1801368"/>
            <a:ext cx="2331720" cy="1005840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ill Sans MT"/>
              </a:rPr>
              <a:t>BAGNO</a:t>
            </a:r>
            <a:br/>
            <a:r>
              <a:rPr sz="1800" b="1">
                <a:solidFill>
                  <a:srgbClr val="FFFFFF"/>
                </a:solidFill>
                <a:latin typeface="Gill Sans MT"/>
              </a:rPr>
              <a:t>Beacon valido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54096" y="2304288"/>
            <a:ext cx="1837944" cy="0"/>
          </a:xfrm>
          <a:prstGeom prst="line">
            <a:avLst/>
          </a:prstGeom>
          <a:ln w="31750">
            <a:solidFill>
              <a:srgbClr val="ED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60336" y="2304288"/>
            <a:ext cx="1837944" cy="0"/>
          </a:xfrm>
          <a:prstGeom prst="line">
            <a:avLst/>
          </a:prstGeom>
          <a:ln w="31750">
            <a:solidFill>
              <a:srgbClr val="5A8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319272"/>
            <a:ext cx="256032" cy="256032"/>
          </a:xfrm>
          <a:prstGeom prst="ellipse">
            <a:avLst/>
          </a:prstGeom>
          <a:solidFill>
            <a:srgbClr val="A9C37C"/>
          </a:solidFill>
          <a:ln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D3D3D"/>
                </a:solidFill>
                <a:latin typeface="Gill Sans M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310128"/>
            <a:ext cx="74523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3D3D3D"/>
                </a:solidFill>
                <a:latin typeface="Gill Sans MT"/>
              </a:rPr>
              <a:t>L’app riconosce la stanza corretta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758184"/>
            <a:ext cx="256032" cy="256032"/>
          </a:xfrm>
          <a:prstGeom prst="ellipse">
            <a:avLst/>
          </a:prstGeom>
          <a:solidFill>
            <a:srgbClr val="A9C37C"/>
          </a:solidFill>
          <a:ln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D3D3D"/>
                </a:solidFill>
                <a:latin typeface="Gill Sans M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749040"/>
            <a:ext cx="74523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3D3D3D"/>
                </a:solidFill>
                <a:latin typeface="Gill Sans MT"/>
              </a:rPr>
              <a:t>Il receiver accetta gli invii e il CSV contiene timestamp/stanza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197096"/>
            <a:ext cx="256032" cy="256032"/>
          </a:xfrm>
          <a:prstGeom prst="ellipse">
            <a:avLst/>
          </a:prstGeom>
          <a:solidFill>
            <a:srgbClr val="A9C37C"/>
          </a:solidFill>
          <a:ln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D3D3D"/>
                </a:solidFill>
                <a:latin typeface="Gill Sans M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74523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3D3D3D"/>
                </a:solidFill>
                <a:latin typeface="Gill Sans MT"/>
              </a:rPr>
              <a:t>La finestra Edge produce feature, qualità e score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36007"/>
            <a:ext cx="256032" cy="256032"/>
          </a:xfrm>
          <a:prstGeom prst="ellipse">
            <a:avLst/>
          </a:prstGeom>
          <a:solidFill>
            <a:srgbClr val="A9C37C"/>
          </a:solidFill>
          <a:ln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D3D3D"/>
                </a:solidFill>
                <a:latin typeface="Gill Sans M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626864"/>
            <a:ext cx="74523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3D3D3D"/>
                </a:solidFill>
                <a:latin typeface="Gill Sans MT"/>
              </a:rPr>
              <a:t>MQTT consegna o accoda; il backend persiste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5074920"/>
            <a:ext cx="256032" cy="256032"/>
          </a:xfrm>
          <a:prstGeom prst="ellipse">
            <a:avLst/>
          </a:prstGeom>
          <a:solidFill>
            <a:srgbClr val="A9C37C"/>
          </a:solidFill>
          <a:ln>
            <a:solidFill>
              <a:srgbClr val="A9C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D3D3D"/>
                </a:solidFill>
                <a:latin typeface="Gill Sans M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065776"/>
            <a:ext cx="74523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3D3D3D"/>
                </a:solidFill>
                <a:latin typeface="Gill Sans MT"/>
              </a:rPr>
              <a:t>Dashboard e stato tecnico riflettono il ciclo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282696"/>
            <a:ext cx="2514600" cy="2057400"/>
          </a:xfrm>
          <a:prstGeom prst="roundRect">
            <a:avLst/>
          </a:prstGeom>
          <a:solidFill>
            <a:srgbClr val="E6C46D"/>
          </a:solidFill>
          <a:ln w="127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LIMITI</a:t>
            </a:r>
            <a:br/>
            <a:r>
              <a:rPr sz="1300" b="1">
                <a:solidFill>
                  <a:srgbClr val="3D3D3D"/>
                </a:solidFill>
                <a:latin typeface="Gill Sans MT"/>
              </a:rPr>
              <a:t>• solo 2 beacon validi</a:t>
            </a:r>
            <a:br/>
            <a:r>
              <a:rPr sz="1300" b="1">
                <a:solidFill>
                  <a:srgbClr val="3D3D3D"/>
                </a:solidFill>
                <a:latin typeface="Gill Sans MT"/>
              </a:rPr>
              <a:t>• camera non coperta</a:t>
            </a:r>
            <a:br/>
            <a:r>
              <a:rPr sz="1300" b="1">
                <a:solidFill>
                  <a:srgbClr val="3D3D3D"/>
                </a:solidFill>
                <a:latin typeface="Gill Sans MT"/>
              </a:rPr>
              <a:t>• deployment fisico su Pi da verificare</a:t>
            </a:r>
            <a:br/>
            <a:r>
              <a:rPr sz="1300" b="1">
                <a:solidFill>
                  <a:srgbClr val="3D3D3D"/>
                </a:solidFill>
                <a:latin typeface="Gill Sans MT"/>
              </a:rPr>
              <a:t>• nessuna campagna clinica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CONCLUSIONI · RISULTATO IMPLEMENTATO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95928" y="1719072"/>
            <a:ext cx="46634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 dirty="0">
                <a:solidFill>
                  <a:srgbClr val="465359"/>
                </a:solidFill>
                <a:latin typeface="Gill Sans MT"/>
              </a:rPr>
              <a:t>Una catena </a:t>
            </a:r>
            <a:r>
              <a:rPr sz="2200" b="1" i="0" dirty="0" err="1">
                <a:solidFill>
                  <a:srgbClr val="465359"/>
                </a:solidFill>
                <a:latin typeface="Gill Sans MT"/>
              </a:rPr>
              <a:t>concreta</a:t>
            </a:r>
            <a:r>
              <a:rPr sz="2200" b="1" i="0" dirty="0">
                <a:solidFill>
                  <a:srgbClr val="465359"/>
                </a:solidFill>
                <a:latin typeface="Gill Sans MT"/>
              </a:rPr>
              <a:t>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459736"/>
            <a:ext cx="18653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BLE + wearable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3744" y="2788920"/>
            <a:ext cx="320040" cy="0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9504" y="2459736"/>
            <a:ext cx="18653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finestre + qualità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788920"/>
            <a:ext cx="320040" cy="0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0640" y="2459736"/>
            <a:ext cx="18653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AI + debounce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86016" y="2788920"/>
            <a:ext cx="320040" cy="0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51776" y="2459736"/>
            <a:ext cx="18653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MQTT + 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17152" y="2788920"/>
            <a:ext cx="320040" cy="0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82912" y="2459736"/>
            <a:ext cx="18653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D3D3D"/>
                </a:solidFill>
                <a:latin typeface="Gill Sans MT"/>
              </a:rPr>
              <a:t>dashboard +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39896"/>
            <a:ext cx="1572768" cy="310896"/>
          </a:xfrm>
          <a:prstGeom prst="roundRect">
            <a:avLst/>
          </a:prstGeom>
          <a:solidFill>
            <a:srgbClr val="ED8428"/>
          </a:solidFill>
          <a:ln w="127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Edge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1" y="3758184"/>
            <a:ext cx="3611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3D3D3D"/>
                </a:solidFill>
                <a:latin typeface="Gill Sans MT"/>
              </a:rPr>
              <a:t>elaborazione locale e recupero degli invii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739896"/>
            <a:ext cx="1572768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Personalizzazione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58184"/>
            <a:ext cx="3611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3D3D3D"/>
                </a:solidFill>
                <a:latin typeface="Gill Sans MT"/>
              </a:rPr>
              <a:t>modello personale con generici di supporto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27448"/>
            <a:ext cx="1572768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Interpretabilità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1" y="4745736"/>
            <a:ext cx="3611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3D3D3D"/>
                </a:solidFill>
                <a:latin typeface="Gill Sans MT"/>
              </a:rPr>
              <a:t>score + confidence + spiegazioni e contesto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4727448"/>
            <a:ext cx="1572768" cy="310896"/>
          </a:xfrm>
          <a:prstGeom prst="roundRect">
            <a:avLst/>
          </a:prstGeom>
          <a:solidFill>
            <a:srgbClr val="465359"/>
          </a:solidFill>
          <a:ln w="127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ill Sans MT"/>
              </a:rPr>
              <a:t>Ruoli distinti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745736"/>
            <a:ext cx="3611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3D3D3D"/>
                </a:solidFill>
                <a:latin typeface="Gill Sans MT"/>
              </a:rPr>
              <a:t>medico, paziente e caregiver con workflow separati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FFFFFF"/>
                </a:solidFill>
                <a:latin typeface="Gill Sans MT"/>
              </a:rPr>
              <a:t>CONCLUSIONI E SVILUPPI FUTURI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709928"/>
            <a:ext cx="5230368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984248"/>
            <a:ext cx="566928" cy="566928"/>
          </a:xfrm>
          <a:prstGeom prst="ellipse">
            <a:avLst/>
          </a:prstGeom>
          <a:solidFill>
            <a:srgbClr val="465359"/>
          </a:solidFill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911096"/>
            <a:ext cx="3931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3D3D3D"/>
                </a:solidFill>
                <a:latin typeface="Gill Sans MT"/>
              </a:rPr>
              <a:t>Deployment fisico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286000"/>
            <a:ext cx="3977639" cy="6035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Verificare Raspberry Pi 5, ARM, certificati, permessi, reboot e rete.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709928"/>
            <a:ext cx="5230368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73951" y="1984248"/>
            <a:ext cx="566928" cy="566928"/>
          </a:xfrm>
          <a:prstGeom prst="ellipse">
            <a:avLst/>
          </a:prstGeom>
          <a:solidFill>
            <a:srgbClr val="ED8428"/>
          </a:solidFill>
          <a:ln>
            <a:solidFill>
              <a:srgbClr val="ED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9" y="1911096"/>
            <a:ext cx="3931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3D3D3D"/>
                </a:solidFill>
                <a:latin typeface="Gill Sans MT"/>
              </a:rPr>
              <a:t>Semantica dati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2286000"/>
            <a:ext cx="3977639" cy="6035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Distinguere copertura assente da zero reale; armonizzare soglie Edge/UI.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557016"/>
            <a:ext cx="5230368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831336"/>
            <a:ext cx="566928" cy="566928"/>
          </a:xfrm>
          <a:prstGeom prst="ellipse">
            <a:avLst/>
          </a:prstGeom>
          <a:solidFill>
            <a:srgbClr val="5A8071"/>
          </a:solidFill>
          <a:ln>
            <a:solidFill>
              <a:srgbClr val="5A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758184"/>
            <a:ext cx="3931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3D3D3D"/>
                </a:solidFill>
                <a:latin typeface="Gill Sans MT"/>
              </a:rPr>
              <a:t>Flussi estesi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133088"/>
            <a:ext cx="3977639" cy="6035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Chiudere retraining, metriche, assenza insolita, scheduling e riconciliazione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557016"/>
            <a:ext cx="5230368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73951" y="3831336"/>
            <a:ext cx="566928" cy="566928"/>
          </a:xfrm>
          <a:prstGeom prst="ellipse">
            <a:avLst/>
          </a:prstGeom>
          <a:solidFill>
            <a:srgbClr val="E6C46D"/>
          </a:solidFill>
          <a:ln>
            <a:solidFill>
              <a:srgbClr val="E6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3D3D3D"/>
                </a:solidFill>
                <a:latin typeface="Gill Sans M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3758184"/>
            <a:ext cx="3931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3D3D3D"/>
                </a:solidFill>
                <a:latin typeface="Gill Sans MT"/>
              </a:rPr>
              <a:t>Robustezza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4133088"/>
            <a:ext cx="3977639" cy="6035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Gill Sans MT"/>
              </a:rPr>
              <a:t>Test push/retry, backup/restore PostgreSQL, retention, security hardening e frontend.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230368"/>
            <a:ext cx="105613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it-IT" sz="1600" b="1" dirty="0">
                <a:solidFill>
                  <a:srgbClr val="465359"/>
                </a:solidFill>
                <a:latin typeface="Gill Sans MT"/>
              </a:rPr>
              <a:t>Sviluppi Futuri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: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trasformare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 la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topologia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documentata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 in un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collaudo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fisico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ripetibile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 e </a:t>
            </a:r>
            <a:r>
              <a:rPr sz="1600" b="1" i="0" dirty="0" err="1">
                <a:solidFill>
                  <a:srgbClr val="465359"/>
                </a:solidFill>
                <a:latin typeface="Gill Sans MT"/>
              </a:rPr>
              <a:t>misurabile</a:t>
            </a:r>
            <a:r>
              <a:rPr sz="1600" b="1" i="0" dirty="0">
                <a:solidFill>
                  <a:srgbClr val="465359"/>
                </a:solidFill>
                <a:latin typeface="Gill Sans M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i">
  <a:themeElements>
    <a:clrScheme name="Dividend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i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i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{1920A019-84D7-CE44-8148-C8B944897405}tf10001123</Template>
  <TotalTime>87</TotalTime>
  <Words>1284</Words>
  <Application>Microsoft Office PowerPoint</Application>
  <PresentationFormat>Widescreen</PresentationFormat>
  <Paragraphs>250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Calibri</vt:lpstr>
      <vt:lpstr>Gill Sans MT</vt:lpstr>
      <vt:lpstr>Wingdings 2</vt:lpstr>
      <vt:lpstr>Dividendi</vt:lpstr>
      <vt:lpstr>PROGETTO IoT</vt:lpstr>
      <vt:lpstr>INTRODUZIONE · CONTESTO</vt:lpstr>
      <vt:lpstr>INTRODUZIONE · PROBLEMA E OBIETTIVO</vt:lpstr>
      <vt:lpstr>RELATED WORKS · DAL MONITORAGGIO FISIOLOGICO ALLA ROUTINE</vt:lpstr>
      <vt:lpstr>ANALISI DEI REQUISITI · ATTORI E CASI D’USO</vt:lpstr>
      <vt:lpstr>ANALISI DEI REQUISITI · VINCOLI DI PROGETTO</vt:lpstr>
      <vt:lpstr>TECNOLOGIE · HARDWARE E CONNETTIVITÀ</vt:lpstr>
      <vt:lpstr>TECNOLOGIE · SOFTWARE STACK</vt:lpstr>
      <vt:lpstr>PROPOSTA · ARCHITETTURA ESECUTIVA</vt:lpstr>
      <vt:lpstr>DASHBOARD MEDICO</vt:lpstr>
      <vt:lpstr>DASHBOARD Paziente e Caregiver</vt:lpstr>
      <vt:lpstr>DETTAGLI · PIPELINE EDGE</vt:lpstr>
      <vt:lpstr>DETTAGLI · LOCALIZZAZIONE E WEARABLE</vt:lpstr>
      <vt:lpstr>DETTAGLI · INTELLIGENZA ARTIFICIALE</vt:lpstr>
      <vt:lpstr>DETTAGLI · BACKEND, PERSISTENZA E REALTIME</vt:lpstr>
      <vt:lpstr>DETTAGLI · WORKFLOW OPERATIVO</vt:lpstr>
      <vt:lpstr>VALIDAZIONE · COSA VIENE TESTATO</vt:lpstr>
      <vt:lpstr>VALIDAZIONE · CASO D’USO DEMO: DUE STANZE</vt:lpstr>
      <vt:lpstr>CONCLUSIONI · RISULTATO IMPLEMENTATO</vt:lpstr>
      <vt:lpstr>CONCLUSIONI E SVILUPPI FUTURI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Ilaria  Sergi</dc:creator>
  <cp:lastModifiedBy>Emilio Pascadopoli</cp:lastModifiedBy>
  <cp:revision>10</cp:revision>
  <dcterms:created xsi:type="dcterms:W3CDTF">2018-09-06T09:25:26Z</dcterms:created>
  <dcterms:modified xsi:type="dcterms:W3CDTF">2026-10-07T07:43:24Z</dcterms:modified>
</cp:coreProperties>
</file>